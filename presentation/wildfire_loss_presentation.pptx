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319AEB0-B2B3-4B9F-96CE-301683A25E68}">
  <a:tblStyle styleId="{A319AEB0-B2B3-4B9F-96CE-301683A25E68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0F9D47A9-538D-4638-8B40-FF44D98C4D9C}" styleName="Table_1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rgbClr val="FFFFFF"/>
      </a:tcTxStyle>
      <a:tcStyle>
        <a:fill>
          <a:solidFill>
            <a:srgbClr val="4F81BD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fill>
          <a:solidFill>
            <a:srgbClr val="4F81BD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top>
            <a:ln cap="flat" cmpd="sng" w="381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4F81BD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bottom>
            <a:ln cap="flat" cmpd="sng" w="381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4F81BD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415600" y="992767"/>
            <a:ext cx="11360400" cy="27369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415589" y="3778833"/>
            <a:ext cx="11360400" cy="10569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415589" y="2867800"/>
            <a:ext cx="11360400" cy="1122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415589" y="593367"/>
            <a:ext cx="113604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415589" y="1536633"/>
            <a:ext cx="113604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415589" y="593367"/>
            <a:ext cx="113604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415589" y="1536633"/>
            <a:ext cx="53331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6443028" y="1536633"/>
            <a:ext cx="53331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415589" y="593367"/>
            <a:ext cx="113604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415589" y="740800"/>
            <a:ext cx="3744000" cy="10077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415589" y="1852800"/>
            <a:ext cx="3744000" cy="42393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653649" y="600200"/>
            <a:ext cx="8490300" cy="5454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5838" y="-167"/>
            <a:ext cx="60957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353991" y="1644233"/>
            <a:ext cx="5393400" cy="1976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353991" y="3737433"/>
            <a:ext cx="5393400" cy="1646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6585824" y="965433"/>
            <a:ext cx="5115900" cy="49269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415589" y="5640767"/>
            <a:ext cx="7998300" cy="806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415589" y="1474833"/>
            <a:ext cx="11360400" cy="26181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415589" y="4202967"/>
            <a:ext cx="11360400" cy="17343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(g3f5deaed062_32_0)">
  <p:cSld name="Title slide (g3f5deaed062_32_0)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ctrTitle"/>
          </p:nvPr>
        </p:nvSpPr>
        <p:spPr>
          <a:xfrm>
            <a:off x="520686" y="2425700"/>
            <a:ext cx="10962600" cy="1244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52" name="Google Shape;52;p13"/>
          <p:cNvSpPr txBox="1"/>
          <p:nvPr>
            <p:ph idx="1" type="subTitle"/>
          </p:nvPr>
        </p:nvSpPr>
        <p:spPr>
          <a:xfrm>
            <a:off x="520686" y="3718840"/>
            <a:ext cx="10962600" cy="57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11364419" y="6260831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15589" y="593367"/>
            <a:ext cx="113604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15589" y="1536633"/>
            <a:ext cx="113604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indent="-3492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indent="-3492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indent="-3492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indent="-3492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indent="-3492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indent="-3492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indent="-3492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indent="-3492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4"/>
          <p:cNvSpPr/>
          <p:nvPr/>
        </p:nvSpPr>
        <p:spPr>
          <a:xfrm>
            <a:off x="0" y="0"/>
            <a:ext cx="12192000" cy="1051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4"/>
          <p:cNvSpPr txBox="1"/>
          <p:nvPr/>
        </p:nvSpPr>
        <p:spPr>
          <a:xfrm>
            <a:off x="822960" y="171450"/>
            <a:ext cx="104775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5D9C9"/>
                </a:solidFill>
                <a:latin typeface="Calibri"/>
                <a:ea typeface="Calibri"/>
                <a:cs typeface="Calibri"/>
                <a:sym typeface="Calibri"/>
              </a:rPr>
              <a:t>AVIVA CASE STUDY</a:t>
            </a:r>
            <a:endParaRPr b="1" sz="1200">
              <a:solidFill>
                <a:srgbClr val="F5D9C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4"/>
          <p:cNvSpPr txBox="1"/>
          <p:nvPr/>
        </p:nvSpPr>
        <p:spPr>
          <a:xfrm>
            <a:off x="822960" y="457200"/>
            <a:ext cx="104775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Wildfire Risk Analytics</a:t>
            </a:r>
            <a:endParaRPr b="1" sz="24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1" name="Google Shape;61;p14"/>
          <p:cNvCxnSpPr/>
          <p:nvPr/>
        </p:nvCxnSpPr>
        <p:spPr>
          <a:xfrm>
            <a:off x="571500" y="2095500"/>
            <a:ext cx="0" cy="2667000"/>
          </a:xfrm>
          <a:prstGeom prst="straightConnector1">
            <a:avLst/>
          </a:prstGeom>
          <a:solidFill>
            <a:srgbClr val="FFFFFF"/>
          </a:solidFill>
          <a:ln cap="rnd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" name="Google Shape;62;p14"/>
          <p:cNvSpPr txBox="1"/>
          <p:nvPr/>
        </p:nvSpPr>
        <p:spPr>
          <a:xfrm>
            <a:off x="822960" y="2000250"/>
            <a:ext cx="104775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2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Wildfire Insured-Loss Modelling</a:t>
            </a:r>
            <a:endParaRPr b="1" sz="520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14"/>
          <p:cNvSpPr txBox="1"/>
          <p:nvPr/>
        </p:nvSpPr>
        <p:spPr>
          <a:xfrm>
            <a:off x="822960" y="3333750"/>
            <a:ext cx="10477500" cy="12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rPr>
              <a:t>Frequency-Severity Loss Model for an Alberta Property Portfolio,</a:t>
            </a:r>
            <a:endParaRPr b="0" sz="2000">
              <a:solidFill>
                <a:srgbClr val="2A2A2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Projected Under a Future Climate Scenario (EC-Earth3, SSP1-2.6)</a:t>
            </a:r>
            <a:endParaRPr b="0" sz="1800">
              <a:solidFill>
                <a:srgbClr val="55555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822960" y="4953000"/>
            <a:ext cx="4762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rPr>
              <a:t>Seti Rahmani</a:t>
            </a:r>
            <a:endParaRPr b="1" sz="1600">
              <a:solidFill>
                <a:srgbClr val="2A2A2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2026</a:t>
            </a:r>
            <a:endParaRPr sz="1300">
              <a:solidFill>
                <a:srgbClr val="77777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/>
          <p:nvPr/>
        </p:nvSpPr>
        <p:spPr>
          <a:xfrm>
            <a:off x="0" y="0"/>
            <a:ext cx="12191700" cy="1051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5"/>
          <p:cNvSpPr txBox="1"/>
          <p:nvPr/>
        </p:nvSpPr>
        <p:spPr>
          <a:xfrm>
            <a:off x="502920" y="109728"/>
            <a:ext cx="10058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5D9C9"/>
                </a:solidFill>
                <a:latin typeface="Calibri"/>
                <a:ea typeface="Calibri"/>
                <a:cs typeface="Calibri"/>
                <a:sym typeface="Calibri"/>
              </a:rPr>
              <a:t>PROJECT OVERVIEW</a:t>
            </a:r>
            <a:endParaRPr b="1" sz="1200">
              <a:solidFill>
                <a:srgbClr val="F5D9C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502920" y="384048"/>
            <a:ext cx="109728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Objective &amp; Approach</a:t>
            </a:r>
            <a:endParaRPr/>
          </a:p>
        </p:txBody>
      </p:sp>
      <p:grpSp>
        <p:nvGrpSpPr>
          <p:cNvPr id="72" name="Google Shape;72;p15"/>
          <p:cNvGrpSpPr/>
          <p:nvPr/>
        </p:nvGrpSpPr>
        <p:grpSpPr>
          <a:xfrm>
            <a:off x="571500" y="1333500"/>
            <a:ext cx="5295900" cy="714300"/>
            <a:chOff x="0" y="0"/>
            <a:chExt cx="5295900" cy="714300"/>
          </a:xfrm>
        </p:grpSpPr>
        <p:sp>
          <p:nvSpPr>
            <p:cNvPr id="73" name="Google Shape;73;p15"/>
            <p:cNvSpPr/>
            <p:nvPr/>
          </p:nvSpPr>
          <p:spPr>
            <a:xfrm>
              <a:off x="0" y="0"/>
              <a:ext cx="38100" cy="7143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15"/>
            <p:cNvSpPr txBox="1"/>
            <p:nvPr/>
          </p:nvSpPr>
          <p:spPr>
            <a:xfrm>
              <a:off x="152400" y="0"/>
              <a:ext cx="51435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4285F4"/>
                  </a:solidFill>
                  <a:latin typeface="Calibri"/>
                  <a:ea typeface="Calibri"/>
                  <a:cs typeface="Calibri"/>
                  <a:sym typeface="Calibri"/>
                </a:rPr>
                <a:t>Goal</a:t>
              </a:r>
              <a:endParaRPr b="1" sz="1400">
                <a:solidFill>
                  <a:srgbClr val="4285F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Quantify wildfire insurance risk by FSA and portfolio-wide, and project losses under a future climate scenario.</a:t>
              </a:r>
              <a:endParaRPr b="0" sz="11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5" name="Google Shape;75;p15"/>
          <p:cNvSpPr txBox="1"/>
          <p:nvPr/>
        </p:nvSpPr>
        <p:spPr>
          <a:xfrm>
            <a:off x="502920" y="6528816"/>
            <a:ext cx="7315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Wildfire Insured-Loss Modelling — Alberta Portfolio</a:t>
            </a:r>
            <a:endParaRPr/>
          </a:p>
        </p:txBody>
      </p:sp>
      <p:grpSp>
        <p:nvGrpSpPr>
          <p:cNvPr id="76" name="Google Shape;76;p15"/>
          <p:cNvGrpSpPr/>
          <p:nvPr/>
        </p:nvGrpSpPr>
        <p:grpSpPr>
          <a:xfrm>
            <a:off x="571500" y="2238375"/>
            <a:ext cx="5295900" cy="714300"/>
            <a:chOff x="0" y="0"/>
            <a:chExt cx="5295900" cy="714300"/>
          </a:xfrm>
        </p:grpSpPr>
        <p:sp>
          <p:nvSpPr>
            <p:cNvPr id="77" name="Google Shape;77;p15"/>
            <p:cNvSpPr/>
            <p:nvPr/>
          </p:nvSpPr>
          <p:spPr>
            <a:xfrm>
              <a:off x="0" y="0"/>
              <a:ext cx="38100" cy="7143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15"/>
            <p:cNvSpPr txBox="1"/>
            <p:nvPr/>
          </p:nvSpPr>
          <p:spPr>
            <a:xfrm>
              <a:off x="152400" y="0"/>
              <a:ext cx="51435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4285F4"/>
                  </a:solidFill>
                  <a:latin typeface="Calibri"/>
                  <a:ea typeface="Calibri"/>
                  <a:cs typeface="Calibri"/>
                  <a:sym typeface="Calibri"/>
                </a:rPr>
                <a:t>Framework</a:t>
              </a:r>
              <a:endParaRPr b="1" sz="1400">
                <a:solidFill>
                  <a:srgbClr val="4285F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Frequency-severity structure — Negative Binomial GLM for claim frequency, Gamma GLM for claim severity.</a:t>
              </a:r>
              <a:endParaRPr b="0" sz="11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9" name="Google Shape;79;p15"/>
          <p:cNvSpPr txBox="1"/>
          <p:nvPr/>
        </p:nvSpPr>
        <p:spPr>
          <a:xfrm>
            <a:off x="11338560" y="6528816"/>
            <a:ext cx="457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grpSp>
        <p:nvGrpSpPr>
          <p:cNvPr id="80" name="Google Shape;80;p15"/>
          <p:cNvGrpSpPr/>
          <p:nvPr/>
        </p:nvGrpSpPr>
        <p:grpSpPr>
          <a:xfrm>
            <a:off x="571500" y="3143250"/>
            <a:ext cx="5295900" cy="714300"/>
            <a:chOff x="0" y="0"/>
            <a:chExt cx="5295900" cy="714300"/>
          </a:xfrm>
        </p:grpSpPr>
        <p:sp>
          <p:nvSpPr>
            <p:cNvPr id="81" name="Google Shape;81;p15"/>
            <p:cNvSpPr/>
            <p:nvPr/>
          </p:nvSpPr>
          <p:spPr>
            <a:xfrm>
              <a:off x="0" y="0"/>
              <a:ext cx="38100" cy="7143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15"/>
            <p:cNvSpPr txBox="1"/>
            <p:nvPr/>
          </p:nvSpPr>
          <p:spPr>
            <a:xfrm>
              <a:off x="152400" y="0"/>
              <a:ext cx="51435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4285F4"/>
                  </a:solidFill>
                  <a:latin typeface="Calibri"/>
                  <a:ea typeface="Calibri"/>
                  <a:cs typeface="Calibri"/>
                  <a:sym typeface="Calibri"/>
                </a:rPr>
                <a:t>Features</a:t>
              </a:r>
              <a:endParaRPr b="1" sz="1400">
                <a:solidFill>
                  <a:srgbClr val="4285F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Climate (Fire Weather Index) + geospatial (fuel type) + exposure, combined into one claims feature table.</a:t>
              </a:r>
              <a:endParaRPr b="0" sz="11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3" name="Google Shape;83;p15"/>
          <p:cNvGrpSpPr/>
          <p:nvPr/>
        </p:nvGrpSpPr>
        <p:grpSpPr>
          <a:xfrm>
            <a:off x="571500" y="4048125"/>
            <a:ext cx="5295900" cy="904800"/>
            <a:chOff x="0" y="0"/>
            <a:chExt cx="5295900" cy="904800"/>
          </a:xfrm>
        </p:grpSpPr>
        <p:sp>
          <p:nvSpPr>
            <p:cNvPr id="84" name="Google Shape;84;p15"/>
            <p:cNvSpPr/>
            <p:nvPr/>
          </p:nvSpPr>
          <p:spPr>
            <a:xfrm>
              <a:off x="0" y="0"/>
              <a:ext cx="38100" cy="9048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15"/>
            <p:cNvSpPr txBox="1"/>
            <p:nvPr/>
          </p:nvSpPr>
          <p:spPr>
            <a:xfrm>
              <a:off x="152400" y="0"/>
              <a:ext cx="5143500" cy="9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4285F4"/>
                  </a:solidFill>
                  <a:latin typeface="Calibri"/>
                  <a:ea typeface="Calibri"/>
                  <a:cs typeface="Calibri"/>
                  <a:sym typeface="Calibri"/>
                </a:rPr>
                <a:t>Discipline</a:t>
              </a:r>
              <a:endParaRPr b="1" sz="1400">
                <a:solidFill>
                  <a:srgbClr val="4285F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Every non-obvious result was independently verified against source data, not assumed — model complexity was deliberately scoped to what 2 historical events can support.</a:t>
              </a:r>
              <a:endParaRPr b="0" sz="11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6" name="Google Shape;86;p15"/>
          <p:cNvGrpSpPr/>
          <p:nvPr/>
        </p:nvGrpSpPr>
        <p:grpSpPr>
          <a:xfrm>
            <a:off x="571500" y="5143500"/>
            <a:ext cx="5295900" cy="714300"/>
            <a:chOff x="0" y="0"/>
            <a:chExt cx="5295900" cy="714300"/>
          </a:xfrm>
        </p:grpSpPr>
        <p:sp>
          <p:nvSpPr>
            <p:cNvPr id="87" name="Google Shape;87;p15"/>
            <p:cNvSpPr/>
            <p:nvPr/>
          </p:nvSpPr>
          <p:spPr>
            <a:xfrm>
              <a:off x="0" y="0"/>
              <a:ext cx="38100" cy="7143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15"/>
            <p:cNvSpPr txBox="1"/>
            <p:nvPr/>
          </p:nvSpPr>
          <p:spPr>
            <a:xfrm>
              <a:off x="152400" y="0"/>
              <a:ext cx="51435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4285F4"/>
                  </a:solidFill>
                  <a:latin typeface="Calibri"/>
                  <a:ea typeface="Calibri"/>
                  <a:cs typeface="Calibri"/>
                  <a:sym typeface="Calibri"/>
                </a:rPr>
                <a:t>Scope</a:t>
              </a:r>
              <a:endParaRPr b="1" sz="1400">
                <a:solidFill>
                  <a:srgbClr val="4285F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A transparent, defensible baseline — not a production catastrophe model.</a:t>
              </a:r>
              <a:endParaRPr b="0" sz="11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9" name="Google Shape;89;p15"/>
          <p:cNvGrpSpPr/>
          <p:nvPr/>
        </p:nvGrpSpPr>
        <p:grpSpPr>
          <a:xfrm>
            <a:off x="6286500" y="1333500"/>
            <a:ext cx="5334000" cy="4857900"/>
            <a:chOff x="0" y="0"/>
            <a:chExt cx="5334000" cy="4857900"/>
          </a:xfrm>
        </p:grpSpPr>
        <p:sp>
          <p:nvSpPr>
            <p:cNvPr id="90" name="Google Shape;90;p15"/>
            <p:cNvSpPr/>
            <p:nvPr/>
          </p:nvSpPr>
          <p:spPr>
            <a:xfrm>
              <a:off x="0" y="0"/>
              <a:ext cx="5334000" cy="4857900"/>
            </a:xfrm>
            <a:prstGeom prst="roundRect">
              <a:avLst>
                <a:gd fmla="val 1568" name="adj"/>
              </a:avLst>
            </a:prstGeom>
            <a:solidFill>
              <a:srgbClr val="FFFFFF"/>
            </a:solidFill>
            <a:ln cap="flat" cmpd="sng" w="9525">
              <a:solidFill>
                <a:srgbClr val="E0E0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15"/>
            <p:cNvSpPr txBox="1"/>
            <p:nvPr/>
          </p:nvSpPr>
          <p:spPr>
            <a:xfrm>
              <a:off x="190500" y="190500"/>
              <a:ext cx="4953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rPr>
                <a:t>Project Workflow</a:t>
              </a:r>
              <a:endParaRPr b="1" sz="1800">
                <a:solidFill>
                  <a:srgbClr val="1A73E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92" name="Google Shape;92;p15"/>
            <p:cNvCxnSpPr/>
            <p:nvPr/>
          </p:nvCxnSpPr>
          <p:spPr>
            <a:xfrm>
              <a:off x="476250" y="809625"/>
              <a:ext cx="0" cy="3619500"/>
            </a:xfrm>
            <a:prstGeom prst="straightConnector1">
              <a:avLst/>
            </a:prstGeom>
            <a:solidFill>
              <a:srgbClr val="FFFFFF"/>
            </a:solidFill>
            <a:ln cap="flat" cmpd="sng" w="19050">
              <a:solidFill>
                <a:srgbClr val="4285F4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93" name="Google Shape;93;p15"/>
            <p:cNvSpPr/>
            <p:nvPr/>
          </p:nvSpPr>
          <p:spPr>
            <a:xfrm>
              <a:off x="428625" y="762000"/>
              <a:ext cx="95400" cy="95400"/>
            </a:xfrm>
            <a:prstGeom prst="ellipse">
              <a:avLst/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15"/>
            <p:cNvSpPr/>
            <p:nvPr/>
          </p:nvSpPr>
          <p:spPr>
            <a:xfrm>
              <a:off x="428625" y="1214438"/>
              <a:ext cx="95400" cy="95400"/>
            </a:xfrm>
            <a:prstGeom prst="ellipse">
              <a:avLst/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" name="Google Shape;95;p15"/>
            <p:cNvSpPr/>
            <p:nvPr/>
          </p:nvSpPr>
          <p:spPr>
            <a:xfrm>
              <a:off x="428625" y="1666875"/>
              <a:ext cx="95400" cy="95400"/>
            </a:xfrm>
            <a:prstGeom prst="ellipse">
              <a:avLst/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" name="Google Shape;96;p15"/>
            <p:cNvSpPr/>
            <p:nvPr/>
          </p:nvSpPr>
          <p:spPr>
            <a:xfrm>
              <a:off x="428625" y="2119313"/>
              <a:ext cx="95400" cy="95400"/>
            </a:xfrm>
            <a:prstGeom prst="ellipse">
              <a:avLst/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" name="Google Shape;97;p15"/>
            <p:cNvSpPr/>
            <p:nvPr/>
          </p:nvSpPr>
          <p:spPr>
            <a:xfrm>
              <a:off x="428625" y="2571750"/>
              <a:ext cx="95400" cy="95400"/>
            </a:xfrm>
            <a:prstGeom prst="ellipse">
              <a:avLst/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" name="Google Shape;98;p15"/>
            <p:cNvSpPr/>
            <p:nvPr/>
          </p:nvSpPr>
          <p:spPr>
            <a:xfrm>
              <a:off x="428625" y="3024188"/>
              <a:ext cx="95400" cy="95400"/>
            </a:xfrm>
            <a:prstGeom prst="ellipse">
              <a:avLst/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" name="Google Shape;99;p15"/>
            <p:cNvSpPr/>
            <p:nvPr/>
          </p:nvSpPr>
          <p:spPr>
            <a:xfrm>
              <a:off x="428625" y="3476625"/>
              <a:ext cx="95400" cy="95400"/>
            </a:xfrm>
            <a:prstGeom prst="ellipse">
              <a:avLst/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15"/>
            <p:cNvSpPr/>
            <p:nvPr/>
          </p:nvSpPr>
          <p:spPr>
            <a:xfrm>
              <a:off x="428625" y="3929063"/>
              <a:ext cx="95400" cy="95400"/>
            </a:xfrm>
            <a:prstGeom prst="ellipse">
              <a:avLst/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" name="Google Shape;101;p15"/>
            <p:cNvSpPr/>
            <p:nvPr/>
          </p:nvSpPr>
          <p:spPr>
            <a:xfrm>
              <a:off x="428625" y="4381500"/>
              <a:ext cx="95400" cy="95400"/>
            </a:xfrm>
            <a:prstGeom prst="ellipse">
              <a:avLst/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5"/>
            <p:cNvSpPr txBox="1"/>
            <p:nvPr/>
          </p:nvSpPr>
          <p:spPr>
            <a:xfrm>
              <a:off x="666750" y="695325"/>
              <a:ext cx="4476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Raw claims + climate + fuel data</a:t>
              </a:r>
              <a:endParaRPr b="0" sz="11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3" name="Google Shape;103;p15"/>
            <p:cNvSpPr txBox="1"/>
            <p:nvPr/>
          </p:nvSpPr>
          <p:spPr>
            <a:xfrm>
              <a:off x="666750" y="1147763"/>
              <a:ext cx="4476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Feature engineering</a:t>
              </a:r>
              <a:endParaRPr b="0" sz="11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04;p15"/>
            <p:cNvSpPr txBox="1"/>
            <p:nvPr/>
          </p:nvSpPr>
          <p:spPr>
            <a:xfrm>
              <a:off x="666750" y="1600200"/>
              <a:ext cx="4476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Poisson baseline</a:t>
              </a:r>
              <a:endParaRPr b="0" sz="11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5"/>
            <p:cNvSpPr txBox="1"/>
            <p:nvPr/>
          </p:nvSpPr>
          <p:spPr>
            <a:xfrm>
              <a:off x="666750" y="2052638"/>
              <a:ext cx="4476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Overdispersion → Negative Binomial</a:t>
              </a:r>
              <a:endParaRPr b="0" sz="11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06;p15"/>
            <p:cNvSpPr txBox="1"/>
            <p:nvPr/>
          </p:nvSpPr>
          <p:spPr>
            <a:xfrm>
              <a:off x="666750" y="2505075"/>
              <a:ext cx="4476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Multiple FWI features → Multicollinearity</a:t>
              </a:r>
              <a:endParaRPr b="0" sz="11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" name="Google Shape;107;p15"/>
            <p:cNvSpPr txBox="1"/>
            <p:nvPr/>
          </p:nvSpPr>
          <p:spPr>
            <a:xfrm>
              <a:off x="666750" y="2957513"/>
              <a:ext cx="4476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Feature reduction (2 climate + 1 fuel)</a:t>
              </a:r>
              <a:endParaRPr b="0" sz="11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5"/>
            <p:cNvSpPr txBox="1"/>
            <p:nvPr/>
          </p:nvSpPr>
          <p:spPr>
            <a:xfrm>
              <a:off x="666750" y="3409950"/>
              <a:ext cx="4476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Validation &amp; diagnostics (LOEO + spatial dependence)</a:t>
              </a:r>
              <a:endParaRPr b="0" sz="11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" name="Google Shape;109;p15"/>
            <p:cNvSpPr txBox="1"/>
            <p:nvPr/>
          </p:nvSpPr>
          <p:spPr>
            <a:xfrm>
              <a:off x="666750" y="3862388"/>
              <a:ext cx="4476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Future climate scenario (SSP1-2.6)</a:t>
              </a:r>
              <a:endParaRPr b="0" sz="11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10;p15"/>
            <p:cNvSpPr txBox="1"/>
            <p:nvPr/>
          </p:nvSpPr>
          <p:spPr>
            <a:xfrm>
              <a:off x="666750" y="4314825"/>
              <a:ext cx="4476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Figures • Maps • Results • Report</a:t>
              </a:r>
              <a:endParaRPr b="1" sz="11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/>
          <p:nvPr/>
        </p:nvSpPr>
        <p:spPr>
          <a:xfrm>
            <a:off x="0" y="0"/>
            <a:ext cx="12191700" cy="1051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6"/>
          <p:cNvSpPr txBox="1"/>
          <p:nvPr/>
        </p:nvSpPr>
        <p:spPr>
          <a:xfrm>
            <a:off x="502920" y="109728"/>
            <a:ext cx="10058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D9C9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  <p:sp>
        <p:nvSpPr>
          <p:cNvPr id="117" name="Google Shape;117;p16"/>
          <p:cNvSpPr txBox="1"/>
          <p:nvPr/>
        </p:nvSpPr>
        <p:spPr>
          <a:xfrm>
            <a:off x="502920" y="384048"/>
            <a:ext cx="109728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Sources &amp; Pipeline</a:t>
            </a:r>
            <a:endParaRPr/>
          </a:p>
        </p:txBody>
      </p:sp>
      <p:sp>
        <p:nvSpPr>
          <p:cNvPr id="118" name="Google Shape;118;p16"/>
          <p:cNvSpPr txBox="1"/>
          <p:nvPr/>
        </p:nvSpPr>
        <p:spPr>
          <a:xfrm>
            <a:off x="502920" y="6528816"/>
            <a:ext cx="7315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Wildfire Insured-Loss Modelling — Alberta Portfolio</a:t>
            </a:r>
            <a:endParaRPr/>
          </a:p>
        </p:txBody>
      </p:sp>
      <p:sp>
        <p:nvSpPr>
          <p:cNvPr id="119" name="Google Shape;119;p16"/>
          <p:cNvSpPr txBox="1"/>
          <p:nvPr/>
        </p:nvSpPr>
        <p:spPr>
          <a:xfrm>
            <a:off x="11338560" y="6528816"/>
            <a:ext cx="457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grpSp>
        <p:nvGrpSpPr>
          <p:cNvPr id="120" name="Google Shape;120;p16"/>
          <p:cNvGrpSpPr/>
          <p:nvPr/>
        </p:nvGrpSpPr>
        <p:grpSpPr>
          <a:xfrm>
            <a:off x="495300" y="1333500"/>
            <a:ext cx="3143400" cy="4667400"/>
            <a:chOff x="495300" y="1333500"/>
            <a:chExt cx="3143400" cy="4667400"/>
          </a:xfrm>
        </p:grpSpPr>
        <p:sp>
          <p:nvSpPr>
            <p:cNvPr id="121" name="Google Shape;121;p16"/>
            <p:cNvSpPr/>
            <p:nvPr/>
          </p:nvSpPr>
          <p:spPr>
            <a:xfrm>
              <a:off x="495300" y="1333500"/>
              <a:ext cx="3143400" cy="4667400"/>
            </a:xfrm>
            <a:prstGeom prst="roundRect">
              <a:avLst>
                <a:gd fmla="val 2424" name="adj"/>
              </a:avLst>
            </a:prstGeom>
            <a:solidFill>
              <a:srgbClr val="F8F9FA"/>
            </a:solidFill>
            <a:ln cap="flat" cmpd="sng" w="9525">
              <a:solidFill>
                <a:srgbClr val="E0E0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6"/>
            <p:cNvSpPr txBox="1"/>
            <p:nvPr/>
          </p:nvSpPr>
          <p:spPr>
            <a:xfrm>
              <a:off x="685800" y="1524000"/>
              <a:ext cx="27624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rPr>
                <a:t>Data Sources</a:t>
              </a:r>
              <a:endParaRPr b="1" sz="1800">
                <a:solidFill>
                  <a:srgbClr val="1A73E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23" name="Google Shape;123;p16"/>
            <p:cNvGrpSpPr/>
            <p:nvPr/>
          </p:nvGrpSpPr>
          <p:grpSpPr>
            <a:xfrm>
              <a:off x="695325" y="2047875"/>
              <a:ext cx="2562375" cy="428700"/>
              <a:chOff x="9525" y="0"/>
              <a:chExt cx="2562375" cy="428700"/>
            </a:xfrm>
          </p:grpSpPr>
          <p:sp>
            <p:nvSpPr>
              <p:cNvPr id="124" name="Google Shape;124;p16"/>
              <p:cNvSpPr/>
              <p:nvPr/>
            </p:nvSpPr>
            <p:spPr>
              <a:xfrm>
                <a:off x="9525" y="66675"/>
                <a:ext cx="95400" cy="95400"/>
              </a:xfrm>
              <a:prstGeom prst="ellipse">
                <a:avLst/>
              </a:prstGeom>
              <a:solidFill>
                <a:srgbClr val="4285F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" name="Google Shape;125;p16"/>
              <p:cNvSpPr txBox="1"/>
              <p:nvPr/>
            </p:nvSpPr>
            <p:spPr>
              <a:xfrm>
                <a:off x="190500" y="0"/>
                <a:ext cx="23814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300">
                    <a:solidFill>
                      <a:srgbClr val="4285F4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Portfolio</a:t>
                </a:r>
                <a:br>
                  <a:rPr lang="en-US" sz="1300">
                    <a:solidFill>
                      <a:srgbClr val="2A2A2A"/>
                    </a:solidFill>
                    <a:latin typeface="Calibri"/>
                    <a:ea typeface="Calibri"/>
                    <a:cs typeface="Calibri"/>
                    <a:sym typeface="Calibri"/>
                  </a:rPr>
                </a:br>
                <a:r>
                  <a:rPr lang="en-US" sz="1150">
                    <a:solidFill>
                      <a:srgbClr val="555555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159 FSAs (Alberta region)</a:t>
                </a:r>
                <a:endParaRPr sz="13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6" name="Google Shape;126;p16"/>
            <p:cNvGrpSpPr/>
            <p:nvPr/>
          </p:nvGrpSpPr>
          <p:grpSpPr>
            <a:xfrm>
              <a:off x="695325" y="2619375"/>
              <a:ext cx="2562375" cy="428700"/>
              <a:chOff x="9525" y="0"/>
              <a:chExt cx="2562375" cy="428700"/>
            </a:xfrm>
          </p:grpSpPr>
          <p:sp>
            <p:nvSpPr>
              <p:cNvPr id="127" name="Google Shape;127;p16"/>
              <p:cNvSpPr/>
              <p:nvPr/>
            </p:nvSpPr>
            <p:spPr>
              <a:xfrm>
                <a:off x="9525" y="66675"/>
                <a:ext cx="95400" cy="95400"/>
              </a:xfrm>
              <a:prstGeom prst="ellipse">
                <a:avLst/>
              </a:prstGeom>
              <a:solidFill>
                <a:srgbClr val="4285F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" name="Google Shape;128;p16"/>
              <p:cNvSpPr txBox="1"/>
              <p:nvPr/>
            </p:nvSpPr>
            <p:spPr>
              <a:xfrm>
                <a:off x="190500" y="0"/>
                <a:ext cx="23814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300">
                    <a:solidFill>
                      <a:srgbClr val="4285F4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Claims</a:t>
                </a:r>
                <a:br>
                  <a:rPr lang="en-US" sz="1300">
                    <a:solidFill>
                      <a:srgbClr val="2A2A2A"/>
                    </a:solidFill>
                    <a:latin typeface="Calibri"/>
                    <a:ea typeface="Calibri"/>
                    <a:cs typeface="Calibri"/>
                    <a:sym typeface="Calibri"/>
                  </a:rPr>
                </a:br>
                <a:r>
                  <a:rPr lang="en-US" sz="1150">
                    <a:solidFill>
                      <a:srgbClr val="555555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305 rows; 2 wildfire events</a:t>
                </a:r>
                <a:endParaRPr sz="13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9" name="Google Shape;129;p16"/>
            <p:cNvGrpSpPr/>
            <p:nvPr/>
          </p:nvGrpSpPr>
          <p:grpSpPr>
            <a:xfrm>
              <a:off x="695325" y="3190875"/>
              <a:ext cx="2562375" cy="428700"/>
              <a:chOff x="9525" y="0"/>
              <a:chExt cx="2562375" cy="428700"/>
            </a:xfrm>
          </p:grpSpPr>
          <p:sp>
            <p:nvSpPr>
              <p:cNvPr id="130" name="Google Shape;130;p16"/>
              <p:cNvSpPr/>
              <p:nvPr/>
            </p:nvSpPr>
            <p:spPr>
              <a:xfrm>
                <a:off x="9525" y="66675"/>
                <a:ext cx="95400" cy="95400"/>
              </a:xfrm>
              <a:prstGeom prst="ellipse">
                <a:avLst/>
              </a:prstGeom>
              <a:solidFill>
                <a:srgbClr val="4285F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" name="Google Shape;131;p16"/>
              <p:cNvSpPr txBox="1"/>
              <p:nvPr/>
            </p:nvSpPr>
            <p:spPr>
              <a:xfrm>
                <a:off x="190500" y="0"/>
                <a:ext cx="23814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300">
                    <a:solidFill>
                      <a:srgbClr val="4285F4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CMIP6 Climate</a:t>
                </a:r>
                <a:br>
                  <a:rPr lang="en-US" sz="1300">
                    <a:solidFill>
                      <a:srgbClr val="2A2A2A"/>
                    </a:solidFill>
                    <a:latin typeface="Calibri"/>
                    <a:ea typeface="Calibri"/>
                    <a:cs typeface="Calibri"/>
                    <a:sym typeface="Calibri"/>
                  </a:rPr>
                </a:br>
                <a:r>
                  <a:rPr lang="en-US" sz="1150">
                    <a:solidFill>
                      <a:srgbClr val="555555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Global climate projections</a:t>
                </a:r>
                <a:endParaRPr sz="13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32" name="Google Shape;132;p16"/>
            <p:cNvGrpSpPr/>
            <p:nvPr/>
          </p:nvGrpSpPr>
          <p:grpSpPr>
            <a:xfrm>
              <a:off x="695325" y="3762375"/>
              <a:ext cx="2562375" cy="428700"/>
              <a:chOff x="9525" y="0"/>
              <a:chExt cx="2562375" cy="428700"/>
            </a:xfrm>
          </p:grpSpPr>
          <p:sp>
            <p:nvSpPr>
              <p:cNvPr id="133" name="Google Shape;133;p16"/>
              <p:cNvSpPr/>
              <p:nvPr/>
            </p:nvSpPr>
            <p:spPr>
              <a:xfrm>
                <a:off x="9525" y="66675"/>
                <a:ext cx="95400" cy="95400"/>
              </a:xfrm>
              <a:prstGeom prst="ellipse">
                <a:avLst/>
              </a:prstGeom>
              <a:solidFill>
                <a:srgbClr val="4285F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" name="Google Shape;134;p16"/>
              <p:cNvSpPr txBox="1"/>
              <p:nvPr/>
            </p:nvSpPr>
            <p:spPr>
              <a:xfrm>
                <a:off x="190500" y="0"/>
                <a:ext cx="23814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300">
                    <a:solidFill>
                      <a:srgbClr val="4285F4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Canadian Fuel Raster</a:t>
                </a:r>
                <a:br>
                  <a:rPr lang="en-US" sz="1300">
                    <a:solidFill>
                      <a:srgbClr val="2A2A2A"/>
                    </a:solidFill>
                    <a:latin typeface="Calibri"/>
                    <a:ea typeface="Calibri"/>
                    <a:cs typeface="Calibri"/>
                    <a:sym typeface="Calibri"/>
                  </a:rPr>
                </a:br>
                <a:r>
                  <a:rPr lang="en-US" sz="1150">
                    <a:solidFill>
                      <a:srgbClr val="555555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National fuel type mapping</a:t>
                </a:r>
                <a:endParaRPr sz="13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35" name="Google Shape;135;p16"/>
            <p:cNvGrpSpPr/>
            <p:nvPr/>
          </p:nvGrpSpPr>
          <p:grpSpPr>
            <a:xfrm>
              <a:off x="695325" y="4333875"/>
              <a:ext cx="2562375" cy="428700"/>
              <a:chOff x="9525" y="0"/>
              <a:chExt cx="2562375" cy="428700"/>
            </a:xfrm>
          </p:grpSpPr>
          <p:sp>
            <p:nvSpPr>
              <p:cNvPr id="136" name="Google Shape;136;p16"/>
              <p:cNvSpPr/>
              <p:nvPr/>
            </p:nvSpPr>
            <p:spPr>
              <a:xfrm>
                <a:off x="9525" y="66675"/>
                <a:ext cx="95400" cy="95400"/>
              </a:xfrm>
              <a:prstGeom prst="ellipse">
                <a:avLst/>
              </a:prstGeom>
              <a:solidFill>
                <a:srgbClr val="4285F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" name="Google Shape;137;p16"/>
              <p:cNvSpPr txBox="1"/>
              <p:nvPr/>
            </p:nvSpPr>
            <p:spPr>
              <a:xfrm>
                <a:off x="190500" y="0"/>
                <a:ext cx="23814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300">
                    <a:solidFill>
                      <a:srgbClr val="4285F4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StatCan FSA Boundaries</a:t>
                </a:r>
                <a:br>
                  <a:rPr lang="en-US" sz="1300">
                    <a:solidFill>
                      <a:srgbClr val="2A2A2A"/>
                    </a:solidFill>
                    <a:latin typeface="Calibri"/>
                    <a:ea typeface="Calibri"/>
                    <a:cs typeface="Calibri"/>
                    <a:sym typeface="Calibri"/>
                  </a:rPr>
                </a:br>
                <a:r>
                  <a:rPr lang="en-US" sz="1150">
                    <a:solidFill>
                      <a:srgbClr val="555555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Official spatial polygons</a:t>
                </a:r>
                <a:endParaRPr sz="13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38" name="Google Shape;138;p16"/>
          <p:cNvGrpSpPr/>
          <p:nvPr/>
        </p:nvGrpSpPr>
        <p:grpSpPr>
          <a:xfrm>
            <a:off x="3829050" y="1333500"/>
            <a:ext cx="3714900" cy="4667400"/>
            <a:chOff x="3829050" y="1333500"/>
            <a:chExt cx="3714900" cy="4667400"/>
          </a:xfrm>
        </p:grpSpPr>
        <p:sp>
          <p:nvSpPr>
            <p:cNvPr id="139" name="Google Shape;139;p16"/>
            <p:cNvSpPr/>
            <p:nvPr/>
          </p:nvSpPr>
          <p:spPr>
            <a:xfrm>
              <a:off x="3829050" y="1333500"/>
              <a:ext cx="3714900" cy="4667400"/>
            </a:xfrm>
            <a:prstGeom prst="roundRect">
              <a:avLst>
                <a:gd fmla="val 2051" name="adj"/>
              </a:avLst>
            </a:prstGeom>
            <a:solidFill>
              <a:srgbClr val="FFFFFF"/>
            </a:solidFill>
            <a:ln cap="flat" cmpd="sng" w="9525">
              <a:solidFill>
                <a:srgbClr val="E0E0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" name="Google Shape;140;p16"/>
            <p:cNvSpPr txBox="1"/>
            <p:nvPr/>
          </p:nvSpPr>
          <p:spPr>
            <a:xfrm>
              <a:off x="4019550" y="1524000"/>
              <a:ext cx="3333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rPr>
                <a:t>Data Pipeline</a:t>
              </a:r>
              <a:endParaRPr b="1" sz="1800">
                <a:solidFill>
                  <a:srgbClr val="1A73E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41" name="Google Shape;141;p16"/>
            <p:cNvGrpSpPr/>
            <p:nvPr/>
          </p:nvGrpSpPr>
          <p:grpSpPr>
            <a:xfrm>
              <a:off x="4733925" y="2000250"/>
              <a:ext cx="1905000" cy="324000"/>
              <a:chOff x="0" y="0"/>
              <a:chExt cx="1905000" cy="324000"/>
            </a:xfrm>
          </p:grpSpPr>
          <p:sp>
            <p:nvSpPr>
              <p:cNvPr id="142" name="Google Shape;142;p16"/>
              <p:cNvSpPr/>
              <p:nvPr/>
            </p:nvSpPr>
            <p:spPr>
              <a:xfrm>
                <a:off x="0" y="0"/>
                <a:ext cx="1905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4285F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" name="Google Shape;143;p16"/>
              <p:cNvSpPr txBox="1"/>
              <p:nvPr/>
            </p:nvSpPr>
            <p:spPr>
              <a:xfrm>
                <a:off x="0" y="0"/>
                <a:ext cx="19050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1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Climate</a:t>
                </a:r>
                <a:endParaRPr b="1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44" name="Google Shape;144;p16"/>
            <p:cNvSpPr/>
            <p:nvPr/>
          </p:nvSpPr>
          <p:spPr>
            <a:xfrm>
              <a:off x="5686425" y="2324100"/>
              <a:ext cx="0" cy="1524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4285F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5648325" y="2466975"/>
              <a:ext cx="76200" cy="57300"/>
            </a:xfrm>
            <a:custGeom>
              <a:rect b="b" l="l" r="r" t="t"/>
              <a:pathLst>
                <a:path extrusionOk="0" h="120000" w="120000">
                  <a:moveTo>
                    <a:pt x="60000" y="120000"/>
                  </a:moveTo>
                  <a:lnTo>
                    <a:pt x="0" y="0"/>
                  </a:lnTo>
                  <a:lnTo>
                    <a:pt x="120000" y="0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46" name="Google Shape;146;p16"/>
            <p:cNvGrpSpPr/>
            <p:nvPr/>
          </p:nvGrpSpPr>
          <p:grpSpPr>
            <a:xfrm>
              <a:off x="4733925" y="2524125"/>
              <a:ext cx="1905000" cy="324000"/>
              <a:chOff x="0" y="0"/>
              <a:chExt cx="1905000" cy="324000"/>
            </a:xfrm>
          </p:grpSpPr>
          <p:sp>
            <p:nvSpPr>
              <p:cNvPr id="147" name="Google Shape;147;p16"/>
              <p:cNvSpPr/>
              <p:nvPr/>
            </p:nvSpPr>
            <p:spPr>
              <a:xfrm>
                <a:off x="0" y="0"/>
                <a:ext cx="1905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E8F0FE"/>
              </a:solidFill>
              <a:ln cap="flat" cmpd="sng" w="9525">
                <a:solidFill>
                  <a:srgbClr val="4285F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" name="Google Shape;148;p16"/>
              <p:cNvSpPr txBox="1"/>
              <p:nvPr/>
            </p:nvSpPr>
            <p:spPr>
              <a:xfrm>
                <a:off x="0" y="0"/>
                <a:ext cx="19050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050">
                    <a:solidFill>
                      <a:srgbClr val="1A73E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Fire Weather Index</a:t>
                </a:r>
                <a:endParaRPr b="1" sz="1050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49" name="Google Shape;149;p16"/>
            <p:cNvSpPr/>
            <p:nvPr/>
          </p:nvSpPr>
          <p:spPr>
            <a:xfrm>
              <a:off x="4495800" y="2847975"/>
              <a:ext cx="1190700" cy="247800"/>
            </a:xfrm>
            <a:custGeom>
              <a:rect b="b" l="l" r="r" t="t"/>
              <a:pathLst>
                <a:path extrusionOk="0" h="120000" w="120000">
                  <a:moveTo>
                    <a:pt x="120000" y="0"/>
                  </a:moveTo>
                  <a:lnTo>
                    <a:pt x="120000" y="69231"/>
                  </a:lnTo>
                  <a:lnTo>
                    <a:pt x="0" y="69231"/>
                  </a:lnTo>
                  <a:lnTo>
                    <a:pt x="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4285F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" name="Google Shape;150;p16"/>
            <p:cNvSpPr/>
            <p:nvPr/>
          </p:nvSpPr>
          <p:spPr>
            <a:xfrm>
              <a:off x="5686425" y="2847975"/>
              <a:ext cx="1190700" cy="2478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0" y="69231"/>
                  </a:lnTo>
                  <a:lnTo>
                    <a:pt x="120000" y="69231"/>
                  </a:lnTo>
                  <a:lnTo>
                    <a:pt x="12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4285F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" name="Google Shape;151;p16"/>
            <p:cNvSpPr/>
            <p:nvPr/>
          </p:nvSpPr>
          <p:spPr>
            <a:xfrm>
              <a:off x="4457700" y="3086100"/>
              <a:ext cx="76200" cy="57300"/>
            </a:xfrm>
            <a:custGeom>
              <a:rect b="b" l="l" r="r" t="t"/>
              <a:pathLst>
                <a:path extrusionOk="0" h="120000" w="120000">
                  <a:moveTo>
                    <a:pt x="60000" y="120000"/>
                  </a:moveTo>
                  <a:lnTo>
                    <a:pt x="0" y="0"/>
                  </a:lnTo>
                  <a:lnTo>
                    <a:pt x="120000" y="0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" name="Google Shape;152;p16"/>
            <p:cNvSpPr/>
            <p:nvPr/>
          </p:nvSpPr>
          <p:spPr>
            <a:xfrm>
              <a:off x="6838950" y="3086100"/>
              <a:ext cx="76200" cy="57300"/>
            </a:xfrm>
            <a:custGeom>
              <a:rect b="b" l="l" r="r" t="t"/>
              <a:pathLst>
                <a:path extrusionOk="0" h="120000" w="120000">
                  <a:moveTo>
                    <a:pt x="60000" y="120000"/>
                  </a:moveTo>
                  <a:lnTo>
                    <a:pt x="0" y="0"/>
                  </a:lnTo>
                  <a:lnTo>
                    <a:pt x="120000" y="0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53" name="Google Shape;153;p16"/>
            <p:cNvGrpSpPr/>
            <p:nvPr/>
          </p:nvGrpSpPr>
          <p:grpSpPr>
            <a:xfrm>
              <a:off x="3971925" y="3143250"/>
              <a:ext cx="1047900" cy="324000"/>
              <a:chOff x="0" y="0"/>
              <a:chExt cx="1047900" cy="324000"/>
            </a:xfrm>
          </p:grpSpPr>
          <p:sp>
            <p:nvSpPr>
              <p:cNvPr id="154" name="Google Shape;154;p16"/>
              <p:cNvSpPr/>
              <p:nvPr/>
            </p:nvSpPr>
            <p:spPr>
              <a:xfrm>
                <a:off x="0" y="0"/>
                <a:ext cx="10479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E8F0FE"/>
              </a:solidFill>
              <a:ln cap="flat" cmpd="sng" w="9525">
                <a:solidFill>
                  <a:srgbClr val="4285F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" name="Google Shape;155;p16"/>
              <p:cNvSpPr txBox="1"/>
              <p:nvPr/>
            </p:nvSpPr>
            <p:spPr>
              <a:xfrm>
                <a:off x="0" y="0"/>
                <a:ext cx="10479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000">
                    <a:solidFill>
                      <a:srgbClr val="1A73E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Fuel Data</a:t>
                </a:r>
                <a:endParaRPr b="1" sz="1000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56" name="Google Shape;156;p16"/>
            <p:cNvGrpSpPr/>
            <p:nvPr/>
          </p:nvGrpSpPr>
          <p:grpSpPr>
            <a:xfrm>
              <a:off x="6353175" y="3143250"/>
              <a:ext cx="1047900" cy="324000"/>
              <a:chOff x="0" y="0"/>
              <a:chExt cx="1047900" cy="324000"/>
            </a:xfrm>
          </p:grpSpPr>
          <p:sp>
            <p:nvSpPr>
              <p:cNvPr id="157" name="Google Shape;157;p16"/>
              <p:cNvSpPr/>
              <p:nvPr/>
            </p:nvSpPr>
            <p:spPr>
              <a:xfrm>
                <a:off x="0" y="0"/>
                <a:ext cx="10479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E8F0FE"/>
              </a:solidFill>
              <a:ln cap="flat" cmpd="sng" w="9525">
                <a:solidFill>
                  <a:srgbClr val="4285F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" name="Google Shape;158;p16"/>
              <p:cNvSpPr txBox="1"/>
              <p:nvPr/>
            </p:nvSpPr>
            <p:spPr>
              <a:xfrm>
                <a:off x="0" y="0"/>
                <a:ext cx="10479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000">
                    <a:solidFill>
                      <a:srgbClr val="1A73E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Portfolio</a:t>
                </a:r>
                <a:endParaRPr b="1" sz="1000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59" name="Google Shape;159;p16"/>
            <p:cNvSpPr/>
            <p:nvPr/>
          </p:nvSpPr>
          <p:spPr>
            <a:xfrm>
              <a:off x="4495800" y="3467100"/>
              <a:ext cx="1190700" cy="2952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0" y="61935"/>
                  </a:lnTo>
                  <a:lnTo>
                    <a:pt x="120000" y="61935"/>
                  </a:lnTo>
                  <a:lnTo>
                    <a:pt x="12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4285F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" name="Google Shape;160;p16"/>
            <p:cNvSpPr/>
            <p:nvPr/>
          </p:nvSpPr>
          <p:spPr>
            <a:xfrm>
              <a:off x="5686425" y="3467100"/>
              <a:ext cx="1190700" cy="295200"/>
            </a:xfrm>
            <a:custGeom>
              <a:rect b="b" l="l" r="r" t="t"/>
              <a:pathLst>
                <a:path extrusionOk="0" h="120000" w="120000">
                  <a:moveTo>
                    <a:pt x="120000" y="0"/>
                  </a:moveTo>
                  <a:lnTo>
                    <a:pt x="120000" y="61935"/>
                  </a:lnTo>
                  <a:lnTo>
                    <a:pt x="0" y="61935"/>
                  </a:lnTo>
                  <a:lnTo>
                    <a:pt x="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4285F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p16"/>
            <p:cNvSpPr/>
            <p:nvPr/>
          </p:nvSpPr>
          <p:spPr>
            <a:xfrm>
              <a:off x="5648325" y="3752850"/>
              <a:ext cx="76200" cy="57300"/>
            </a:xfrm>
            <a:custGeom>
              <a:rect b="b" l="l" r="r" t="t"/>
              <a:pathLst>
                <a:path extrusionOk="0" h="120000" w="120000">
                  <a:moveTo>
                    <a:pt x="60000" y="120000"/>
                  </a:moveTo>
                  <a:lnTo>
                    <a:pt x="0" y="0"/>
                  </a:lnTo>
                  <a:lnTo>
                    <a:pt x="120000" y="0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62" name="Google Shape;162;p16"/>
            <p:cNvGrpSpPr/>
            <p:nvPr/>
          </p:nvGrpSpPr>
          <p:grpSpPr>
            <a:xfrm>
              <a:off x="4733925" y="3810000"/>
              <a:ext cx="1905000" cy="324000"/>
              <a:chOff x="0" y="0"/>
              <a:chExt cx="1905000" cy="324000"/>
            </a:xfrm>
          </p:grpSpPr>
          <p:sp>
            <p:nvSpPr>
              <p:cNvPr id="163" name="Google Shape;163;p16"/>
              <p:cNvSpPr/>
              <p:nvPr/>
            </p:nvSpPr>
            <p:spPr>
              <a:xfrm>
                <a:off x="0" y="0"/>
                <a:ext cx="1905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E8F0FE"/>
              </a:solidFill>
              <a:ln cap="flat" cmpd="sng" w="9525">
                <a:solidFill>
                  <a:srgbClr val="4285F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" name="Google Shape;164;p16"/>
              <p:cNvSpPr txBox="1"/>
              <p:nvPr/>
            </p:nvSpPr>
            <p:spPr>
              <a:xfrm>
                <a:off x="0" y="0"/>
                <a:ext cx="19050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050">
                    <a:solidFill>
                      <a:srgbClr val="1A73E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FSA Features</a:t>
                </a:r>
                <a:endParaRPr b="1" sz="1050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65" name="Google Shape;165;p16"/>
            <p:cNvSpPr/>
            <p:nvPr/>
          </p:nvSpPr>
          <p:spPr>
            <a:xfrm>
              <a:off x="5686425" y="4133850"/>
              <a:ext cx="0" cy="1524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4285F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" name="Google Shape;166;p16"/>
            <p:cNvSpPr/>
            <p:nvPr/>
          </p:nvSpPr>
          <p:spPr>
            <a:xfrm>
              <a:off x="5648325" y="4276725"/>
              <a:ext cx="76200" cy="57300"/>
            </a:xfrm>
            <a:custGeom>
              <a:rect b="b" l="l" r="r" t="t"/>
              <a:pathLst>
                <a:path extrusionOk="0" h="120000" w="120000">
                  <a:moveTo>
                    <a:pt x="60000" y="120000"/>
                  </a:moveTo>
                  <a:lnTo>
                    <a:pt x="0" y="0"/>
                  </a:lnTo>
                  <a:lnTo>
                    <a:pt x="120000" y="0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67" name="Google Shape;167;p16"/>
            <p:cNvGrpSpPr/>
            <p:nvPr/>
          </p:nvGrpSpPr>
          <p:grpSpPr>
            <a:xfrm>
              <a:off x="4733925" y="4333875"/>
              <a:ext cx="1905000" cy="324000"/>
              <a:chOff x="0" y="0"/>
              <a:chExt cx="1905000" cy="324000"/>
            </a:xfrm>
          </p:grpSpPr>
          <p:sp>
            <p:nvSpPr>
              <p:cNvPr id="168" name="Google Shape;168;p16"/>
              <p:cNvSpPr/>
              <p:nvPr/>
            </p:nvSpPr>
            <p:spPr>
              <a:xfrm>
                <a:off x="0" y="0"/>
                <a:ext cx="1905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E8F0FE"/>
              </a:solidFill>
              <a:ln cap="flat" cmpd="sng" w="9525">
                <a:solidFill>
                  <a:srgbClr val="4285F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" name="Google Shape;169;p16"/>
              <p:cNvSpPr txBox="1"/>
              <p:nvPr/>
            </p:nvSpPr>
            <p:spPr>
              <a:xfrm>
                <a:off x="0" y="0"/>
                <a:ext cx="19050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050">
                    <a:solidFill>
                      <a:srgbClr val="1A73E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Historical Claims</a:t>
                </a:r>
                <a:endParaRPr b="1" sz="1050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70" name="Google Shape;170;p16"/>
            <p:cNvSpPr/>
            <p:nvPr/>
          </p:nvSpPr>
          <p:spPr>
            <a:xfrm>
              <a:off x="5686425" y="4657725"/>
              <a:ext cx="0" cy="1524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4285F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" name="Google Shape;171;p16"/>
            <p:cNvSpPr/>
            <p:nvPr/>
          </p:nvSpPr>
          <p:spPr>
            <a:xfrm>
              <a:off x="5648325" y="4800600"/>
              <a:ext cx="76200" cy="57300"/>
            </a:xfrm>
            <a:custGeom>
              <a:rect b="b" l="l" r="r" t="t"/>
              <a:pathLst>
                <a:path extrusionOk="0" h="120000" w="120000">
                  <a:moveTo>
                    <a:pt x="60000" y="120000"/>
                  </a:moveTo>
                  <a:lnTo>
                    <a:pt x="0" y="0"/>
                  </a:lnTo>
                  <a:lnTo>
                    <a:pt x="120000" y="0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72" name="Google Shape;172;p16"/>
            <p:cNvGrpSpPr/>
            <p:nvPr/>
          </p:nvGrpSpPr>
          <p:grpSpPr>
            <a:xfrm>
              <a:off x="4543425" y="4857750"/>
              <a:ext cx="2286000" cy="362100"/>
              <a:chOff x="0" y="0"/>
              <a:chExt cx="2286000" cy="362100"/>
            </a:xfrm>
          </p:grpSpPr>
          <p:sp>
            <p:nvSpPr>
              <p:cNvPr id="173" name="Google Shape;173;p16"/>
              <p:cNvSpPr/>
              <p:nvPr/>
            </p:nvSpPr>
            <p:spPr>
              <a:xfrm>
                <a:off x="0" y="0"/>
                <a:ext cx="2286000" cy="362100"/>
              </a:xfrm>
              <a:prstGeom prst="roundRect">
                <a:avLst>
                  <a:gd fmla="val 10526" name="adj"/>
                </a:avLst>
              </a:prstGeom>
              <a:solidFill>
                <a:srgbClr val="4285F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4" name="Google Shape;174;p16"/>
              <p:cNvSpPr txBox="1"/>
              <p:nvPr/>
            </p:nvSpPr>
            <p:spPr>
              <a:xfrm>
                <a:off x="0" y="0"/>
                <a:ext cx="2286000" cy="362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15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Claims Feature Table</a:t>
                </a:r>
                <a:endParaRPr b="1" sz="115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75" name="Google Shape;175;p16"/>
          <p:cNvGrpSpPr/>
          <p:nvPr/>
        </p:nvGrpSpPr>
        <p:grpSpPr>
          <a:xfrm>
            <a:off x="7734300" y="1333500"/>
            <a:ext cx="3962400" cy="4667250"/>
            <a:chOff x="7734300" y="1333500"/>
            <a:chExt cx="3962400" cy="4667250"/>
          </a:xfrm>
        </p:grpSpPr>
        <p:grpSp>
          <p:nvGrpSpPr>
            <p:cNvPr id="176" name="Google Shape;176;p16"/>
            <p:cNvGrpSpPr/>
            <p:nvPr/>
          </p:nvGrpSpPr>
          <p:grpSpPr>
            <a:xfrm>
              <a:off x="7734300" y="1333500"/>
              <a:ext cx="3962400" cy="1381200"/>
              <a:chOff x="0" y="0"/>
              <a:chExt cx="3962400" cy="1381200"/>
            </a:xfrm>
          </p:grpSpPr>
          <p:sp>
            <p:nvSpPr>
              <p:cNvPr id="177" name="Google Shape;177;p16"/>
              <p:cNvSpPr/>
              <p:nvPr/>
            </p:nvSpPr>
            <p:spPr>
              <a:xfrm>
                <a:off x="0" y="0"/>
                <a:ext cx="3962400" cy="1381200"/>
              </a:xfrm>
              <a:prstGeom prst="roundRect">
                <a:avLst>
                  <a:gd fmla="val 4137" name="adj"/>
                </a:avLst>
              </a:prstGeom>
              <a:solidFill>
                <a:srgbClr val="F8F9FA"/>
              </a:solidFill>
              <a:ln cap="flat" cmpd="sng" w="9525">
                <a:solidFill>
                  <a:srgbClr val="E0E0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" name="Google Shape;178;p16"/>
              <p:cNvSpPr/>
              <p:nvPr/>
            </p:nvSpPr>
            <p:spPr>
              <a:xfrm>
                <a:off x="0" y="0"/>
                <a:ext cx="57300" cy="1381200"/>
              </a:xfrm>
              <a:prstGeom prst="roundRect">
                <a:avLst>
                  <a:gd fmla="val 50000" name="adj"/>
                </a:avLst>
              </a:prstGeom>
              <a:solidFill>
                <a:srgbClr val="4285F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" name="Google Shape;179;p16"/>
              <p:cNvSpPr txBox="1"/>
              <p:nvPr/>
            </p:nvSpPr>
            <p:spPr>
              <a:xfrm>
                <a:off x="238125" y="142875"/>
                <a:ext cx="3486300" cy="109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600">
                    <a:solidFill>
                      <a:srgbClr val="4285F4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Validation</a:t>
                </a:r>
                <a:endParaRPr b="1" sz="1600">
                  <a:solidFill>
                    <a:srgbClr val="4285F4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b="0" lang="en-US" sz="1250">
                    <a:solidFill>
                      <a:srgbClr val="2A2A2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Key assumptions regarding climate, spatial data, and joins have been verified and corrected.</a:t>
                </a:r>
                <a:endParaRPr b="0" sz="12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80" name="Google Shape;180;p16"/>
            <p:cNvGrpSpPr/>
            <p:nvPr/>
          </p:nvGrpSpPr>
          <p:grpSpPr>
            <a:xfrm>
              <a:off x="7734300" y="2905125"/>
              <a:ext cx="3962400" cy="1381200"/>
              <a:chOff x="0" y="0"/>
              <a:chExt cx="3962400" cy="1381200"/>
            </a:xfrm>
          </p:grpSpPr>
          <p:sp>
            <p:nvSpPr>
              <p:cNvPr id="181" name="Google Shape;181;p16"/>
              <p:cNvSpPr/>
              <p:nvPr/>
            </p:nvSpPr>
            <p:spPr>
              <a:xfrm>
                <a:off x="0" y="0"/>
                <a:ext cx="3962400" cy="1381200"/>
              </a:xfrm>
              <a:prstGeom prst="roundRect">
                <a:avLst>
                  <a:gd fmla="val 4137" name="adj"/>
                </a:avLst>
              </a:prstGeom>
              <a:solidFill>
                <a:srgbClr val="F8F9FA"/>
              </a:solidFill>
              <a:ln cap="flat" cmpd="sng" w="9525">
                <a:solidFill>
                  <a:srgbClr val="E0E0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" name="Google Shape;182;p16"/>
              <p:cNvSpPr/>
              <p:nvPr/>
            </p:nvSpPr>
            <p:spPr>
              <a:xfrm>
                <a:off x="0" y="0"/>
                <a:ext cx="57300" cy="1381200"/>
              </a:xfrm>
              <a:prstGeom prst="roundRect">
                <a:avLst>
                  <a:gd fmla="val 50000" name="adj"/>
                </a:avLst>
              </a:prstGeom>
              <a:solidFill>
                <a:srgbClr val="22C55E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" name="Google Shape;183;p16"/>
              <p:cNvSpPr txBox="1"/>
              <p:nvPr/>
            </p:nvSpPr>
            <p:spPr>
              <a:xfrm>
                <a:off x="238125" y="142875"/>
                <a:ext cx="3486300" cy="109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600">
                    <a:solidFill>
                      <a:srgbClr val="22C55E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Testing</a:t>
                </a:r>
                <a:endParaRPr b="1" sz="1600">
                  <a:solidFill>
                    <a:srgbClr val="22C55E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b="0" lang="en-US" sz="1250">
                    <a:solidFill>
                      <a:srgbClr val="2A2A2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High-risk transformations are covered by pytest, which also successfully identified a minor data artifact.</a:t>
                </a:r>
                <a:endParaRPr b="0" sz="12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84" name="Google Shape;184;p16"/>
            <p:cNvGrpSpPr/>
            <p:nvPr/>
          </p:nvGrpSpPr>
          <p:grpSpPr>
            <a:xfrm>
              <a:off x="7734300" y="4476750"/>
              <a:ext cx="3962400" cy="1524000"/>
              <a:chOff x="0" y="0"/>
              <a:chExt cx="3962400" cy="1524000"/>
            </a:xfrm>
          </p:grpSpPr>
          <p:sp>
            <p:nvSpPr>
              <p:cNvPr id="185" name="Google Shape;185;p16"/>
              <p:cNvSpPr/>
              <p:nvPr/>
            </p:nvSpPr>
            <p:spPr>
              <a:xfrm>
                <a:off x="0" y="0"/>
                <a:ext cx="3962400" cy="1524000"/>
              </a:xfrm>
              <a:prstGeom prst="roundRect">
                <a:avLst>
                  <a:gd fmla="val 3750" name="adj"/>
                </a:avLst>
              </a:prstGeom>
              <a:solidFill>
                <a:srgbClr val="F8F9FA"/>
              </a:solidFill>
              <a:ln cap="flat" cmpd="sng" w="9525">
                <a:solidFill>
                  <a:srgbClr val="E0E0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6" name="Google Shape;186;p16"/>
              <p:cNvSpPr/>
              <p:nvPr/>
            </p:nvSpPr>
            <p:spPr>
              <a:xfrm>
                <a:off x="0" y="0"/>
                <a:ext cx="57300" cy="1524000"/>
              </a:xfrm>
              <a:prstGeom prst="roundRect">
                <a:avLst>
                  <a:gd fmla="val 50000" name="adj"/>
                </a:avLst>
              </a:prstGeom>
              <a:solidFill>
                <a:srgbClr val="EA4335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7" name="Google Shape;187;p16"/>
              <p:cNvSpPr txBox="1"/>
              <p:nvPr/>
            </p:nvSpPr>
            <p:spPr>
              <a:xfrm>
                <a:off x="238125" y="142875"/>
                <a:ext cx="3486300" cy="123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600">
                    <a:solidFill>
                      <a:srgbClr val="EA4335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Boundary Gaps</a:t>
                </a:r>
                <a:endParaRPr b="1" sz="1600">
                  <a:solidFill>
                    <a:srgbClr val="EA4335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b="0" lang="en-US" sz="1250">
                    <a:solidFill>
                      <a:srgbClr val="2A2A2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Five FSAs are missing polygons, including two valid FSAs (</a:t>
                </a:r>
                <a:r>
                  <a:rPr b="1" lang="en-US" sz="1250">
                    <a:solidFill>
                      <a:srgbClr val="EA4335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T3T</a:t>
                </a:r>
                <a:r>
                  <a:rPr b="0" lang="en-US" sz="1250">
                    <a:solidFill>
                      <a:srgbClr val="2A2A2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and </a:t>
                </a:r>
                <a:r>
                  <a:rPr b="1" lang="en-US" sz="1250">
                    <a:solidFill>
                      <a:srgbClr val="EA4335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T4K</a:t>
                </a:r>
                <a:r>
                  <a:rPr b="0" lang="en-US" sz="1250">
                    <a:solidFill>
                      <a:srgbClr val="2A2A2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) that require resolution.</a:t>
                </a:r>
                <a:endParaRPr b="0" sz="12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7"/>
          <p:cNvSpPr/>
          <p:nvPr/>
        </p:nvSpPr>
        <p:spPr>
          <a:xfrm>
            <a:off x="0" y="0"/>
            <a:ext cx="12191700" cy="1051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7"/>
          <p:cNvSpPr txBox="1"/>
          <p:nvPr/>
        </p:nvSpPr>
        <p:spPr>
          <a:xfrm>
            <a:off x="502920" y="109728"/>
            <a:ext cx="10058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D9C9"/>
                </a:solidFill>
                <a:latin typeface="Calibri"/>
                <a:ea typeface="Calibri"/>
                <a:cs typeface="Calibri"/>
                <a:sym typeface="Calibri"/>
              </a:rPr>
              <a:t>EDA</a:t>
            </a:r>
            <a:endParaRPr/>
          </a:p>
        </p:txBody>
      </p:sp>
      <p:sp>
        <p:nvSpPr>
          <p:cNvPr id="194" name="Google Shape;194;p17"/>
          <p:cNvSpPr txBox="1"/>
          <p:nvPr/>
        </p:nvSpPr>
        <p:spPr>
          <a:xfrm>
            <a:off x="502920" y="384048"/>
            <a:ext cx="109728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Exploratory Insights</a:t>
            </a:r>
            <a:endParaRPr/>
          </a:p>
        </p:txBody>
      </p:sp>
      <p:grpSp>
        <p:nvGrpSpPr>
          <p:cNvPr id="195" name="Google Shape;195;p17"/>
          <p:cNvGrpSpPr/>
          <p:nvPr/>
        </p:nvGrpSpPr>
        <p:grpSpPr>
          <a:xfrm>
            <a:off x="571500" y="1333500"/>
            <a:ext cx="4762500" cy="762000"/>
            <a:chOff x="0" y="0"/>
            <a:chExt cx="4762500" cy="762000"/>
          </a:xfrm>
        </p:grpSpPr>
        <p:sp>
          <p:nvSpPr>
            <p:cNvPr id="196" name="Google Shape;196;p17"/>
            <p:cNvSpPr/>
            <p:nvPr/>
          </p:nvSpPr>
          <p:spPr>
            <a:xfrm>
              <a:off x="0" y="0"/>
              <a:ext cx="38100" cy="7143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" name="Google Shape;197;p17"/>
            <p:cNvSpPr txBox="1"/>
            <p:nvPr/>
          </p:nvSpPr>
          <p:spPr>
            <a:xfrm>
              <a:off x="152400" y="0"/>
              <a:ext cx="46101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Losses are concentrated</a:t>
              </a:r>
              <a:endParaRPr b="1" sz="140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555555"/>
                  </a:solidFill>
                  <a:latin typeface="Calibri"/>
                  <a:ea typeface="Calibri"/>
                  <a:cs typeface="Calibri"/>
                  <a:sym typeface="Calibri"/>
                </a:rPr>
                <a:t>Most FSA/event rows record zero loss; nonzero losses span ~6 orders of magnitude ($62 to $33.9M).</a:t>
              </a:r>
              <a:endParaRPr b="0" sz="110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8" name="Google Shape;198;p17"/>
          <p:cNvGrpSpPr/>
          <p:nvPr/>
        </p:nvGrpSpPr>
        <p:grpSpPr>
          <a:xfrm>
            <a:off x="571500" y="2238375"/>
            <a:ext cx="4762500" cy="762000"/>
            <a:chOff x="0" y="0"/>
            <a:chExt cx="4762500" cy="762000"/>
          </a:xfrm>
        </p:grpSpPr>
        <p:sp>
          <p:nvSpPr>
            <p:cNvPr id="199" name="Google Shape;199;p17"/>
            <p:cNvSpPr/>
            <p:nvPr/>
          </p:nvSpPr>
          <p:spPr>
            <a:xfrm>
              <a:off x="0" y="0"/>
              <a:ext cx="38100" cy="7143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" name="Google Shape;200;p17"/>
            <p:cNvSpPr txBox="1"/>
            <p:nvPr/>
          </p:nvSpPr>
          <p:spPr>
            <a:xfrm>
              <a:off x="152400" y="0"/>
              <a:ext cx="46101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Severity ≠ exposure scaling</a:t>
              </a:r>
              <a:endParaRPr b="1" sz="140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555555"/>
                  </a:solidFill>
                  <a:latin typeface="Calibri"/>
                  <a:ea typeface="Calibri"/>
                  <a:cs typeface="Calibri"/>
                  <a:sym typeface="Calibri"/>
                </a:rPr>
                <a:t>No clear linear relationship between exposure value and loss — whether an FSA was affected matters more than its size.</a:t>
              </a:r>
              <a:endParaRPr b="0" sz="110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1" name="Google Shape;201;p17"/>
          <p:cNvGrpSpPr/>
          <p:nvPr/>
        </p:nvGrpSpPr>
        <p:grpSpPr>
          <a:xfrm>
            <a:off x="571500" y="3143250"/>
            <a:ext cx="4762500" cy="762000"/>
            <a:chOff x="0" y="0"/>
            <a:chExt cx="4762500" cy="762000"/>
          </a:xfrm>
        </p:grpSpPr>
        <p:sp>
          <p:nvSpPr>
            <p:cNvPr id="202" name="Google Shape;202;p17"/>
            <p:cNvSpPr/>
            <p:nvPr/>
          </p:nvSpPr>
          <p:spPr>
            <a:xfrm>
              <a:off x="0" y="0"/>
              <a:ext cx="38100" cy="7143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" name="Google Shape;203;p17"/>
            <p:cNvSpPr txBox="1"/>
            <p:nvPr/>
          </p:nvSpPr>
          <p:spPr>
            <a:xfrm>
              <a:off x="152400" y="0"/>
              <a:ext cx="46101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24% of claim rows lack FWI signal</a:t>
              </a:r>
              <a:endParaRPr b="1" sz="140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555555"/>
                  </a:solidFill>
                  <a:latin typeface="Calibri"/>
                  <a:ea typeface="Calibri"/>
                  <a:cs typeface="Calibri"/>
                  <a:sym typeface="Calibri"/>
                </a:rPr>
                <a:t>Investigated, not discarded — mostly a genuine pre-fire-season timing issue in the May 2016 event.</a:t>
              </a:r>
              <a:endParaRPr b="0" sz="110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4" name="Google Shape;204;p17"/>
          <p:cNvGrpSpPr/>
          <p:nvPr/>
        </p:nvGrpSpPr>
        <p:grpSpPr>
          <a:xfrm>
            <a:off x="571500" y="4048125"/>
            <a:ext cx="4762500" cy="762000"/>
            <a:chOff x="0" y="0"/>
            <a:chExt cx="4762500" cy="762000"/>
          </a:xfrm>
        </p:grpSpPr>
        <p:sp>
          <p:nvSpPr>
            <p:cNvPr id="205" name="Google Shape;205;p17"/>
            <p:cNvSpPr/>
            <p:nvPr/>
          </p:nvSpPr>
          <p:spPr>
            <a:xfrm>
              <a:off x="0" y="0"/>
              <a:ext cx="38100" cy="7143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" name="Google Shape;206;p17"/>
            <p:cNvSpPr txBox="1"/>
            <p:nvPr/>
          </p:nvSpPr>
          <p:spPr>
            <a:xfrm>
              <a:off x="152400" y="0"/>
              <a:ext cx="46101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Spatial signatures differ by event</a:t>
              </a:r>
              <a:endParaRPr b="1" sz="140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555555"/>
                  </a:solidFill>
                  <a:latin typeface="Calibri"/>
                  <a:ea typeface="Calibri"/>
                  <a:cs typeface="Calibri"/>
                  <a:sym typeface="Calibri"/>
                </a:rPr>
                <a:t>May 2016 losses are geographically clustered (one spreading fire); Jul/Aug 2024 losses are scattered (multiple disconnected fires).</a:t>
              </a:r>
              <a:endParaRPr b="0" sz="110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7" name="Google Shape;207;p17"/>
          <p:cNvGrpSpPr/>
          <p:nvPr/>
        </p:nvGrpSpPr>
        <p:grpSpPr>
          <a:xfrm>
            <a:off x="571500" y="4953000"/>
            <a:ext cx="4762500" cy="762000"/>
            <a:chOff x="0" y="0"/>
            <a:chExt cx="4762500" cy="762000"/>
          </a:xfrm>
        </p:grpSpPr>
        <p:sp>
          <p:nvSpPr>
            <p:cNvPr id="208" name="Google Shape;208;p17"/>
            <p:cNvSpPr/>
            <p:nvPr/>
          </p:nvSpPr>
          <p:spPr>
            <a:xfrm>
              <a:off x="0" y="0"/>
              <a:ext cx="38100" cy="7143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" name="Google Shape;209;p17"/>
            <p:cNvSpPr txBox="1"/>
            <p:nvPr/>
          </p:nvSpPr>
          <p:spPr>
            <a:xfrm>
              <a:off x="152400" y="0"/>
              <a:ext cx="46101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FWI distributions are multi-modal</a:t>
              </a:r>
              <a:endParaRPr b="1" sz="140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555555"/>
                  </a:solidFill>
                  <a:latin typeface="Calibri"/>
                  <a:ea typeface="Calibri"/>
                  <a:cs typeface="Calibri"/>
                  <a:sym typeface="Calibri"/>
                </a:rPr>
                <a:t>Consistent with the two events drawing from different fire-weather regimes, not one smooth distribution.</a:t>
              </a:r>
              <a:endParaRPr b="0" sz="110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10" name="Google Shape;210;p17"/>
          <p:cNvPicPr preferRelativeResize="0"/>
          <p:nvPr/>
        </p:nvPicPr>
        <p:blipFill rotWithShape="1">
          <a:blip r:embed="rId3">
            <a:alphaModFix/>
          </a:blip>
          <a:srcRect b="30" l="0" r="0" t="20"/>
          <a:stretch/>
        </p:blipFill>
        <p:spPr>
          <a:xfrm>
            <a:off x="5857875" y="1666875"/>
            <a:ext cx="5848500" cy="38958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17"/>
          <p:cNvSpPr txBox="1"/>
          <p:nvPr/>
        </p:nvSpPr>
        <p:spPr>
          <a:xfrm>
            <a:off x="502920" y="6528816"/>
            <a:ext cx="7315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Wildfire Insured-Loss Modelling — Alberta Portfolio</a:t>
            </a:r>
            <a:endParaRPr/>
          </a:p>
        </p:txBody>
      </p:sp>
      <p:sp>
        <p:nvSpPr>
          <p:cNvPr id="212" name="Google Shape;212;p17"/>
          <p:cNvSpPr txBox="1"/>
          <p:nvPr/>
        </p:nvSpPr>
        <p:spPr>
          <a:xfrm>
            <a:off x="11338560" y="6528816"/>
            <a:ext cx="457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8"/>
          <p:cNvSpPr/>
          <p:nvPr/>
        </p:nvSpPr>
        <p:spPr>
          <a:xfrm>
            <a:off x="0" y="0"/>
            <a:ext cx="12191700" cy="1051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8"/>
          <p:cNvSpPr txBox="1"/>
          <p:nvPr/>
        </p:nvSpPr>
        <p:spPr>
          <a:xfrm>
            <a:off x="502920" y="109728"/>
            <a:ext cx="10058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D9C9"/>
                </a:solidFill>
                <a:latin typeface="Calibri"/>
                <a:ea typeface="Calibri"/>
                <a:cs typeface="Calibri"/>
                <a:sym typeface="Calibri"/>
              </a:rPr>
              <a:t>MODELLING APPROACH</a:t>
            </a:r>
            <a:endParaRPr/>
          </a:p>
        </p:txBody>
      </p:sp>
      <p:sp>
        <p:nvSpPr>
          <p:cNvPr id="219" name="Google Shape;219;p18"/>
          <p:cNvSpPr txBox="1"/>
          <p:nvPr/>
        </p:nvSpPr>
        <p:spPr>
          <a:xfrm>
            <a:off x="502920" y="384048"/>
            <a:ext cx="109728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Feature Engineering &amp; Model Evolution</a:t>
            </a:r>
            <a:endParaRPr/>
          </a:p>
        </p:txBody>
      </p:sp>
      <p:grpSp>
        <p:nvGrpSpPr>
          <p:cNvPr id="220" name="Google Shape;220;p18"/>
          <p:cNvGrpSpPr/>
          <p:nvPr/>
        </p:nvGrpSpPr>
        <p:grpSpPr>
          <a:xfrm>
            <a:off x="502920" y="1285875"/>
            <a:ext cx="5524500" cy="2238300"/>
            <a:chOff x="0" y="0"/>
            <a:chExt cx="5524500" cy="2238300"/>
          </a:xfrm>
        </p:grpSpPr>
        <p:sp>
          <p:nvSpPr>
            <p:cNvPr id="221" name="Google Shape;221;p18"/>
            <p:cNvSpPr/>
            <p:nvPr/>
          </p:nvSpPr>
          <p:spPr>
            <a:xfrm>
              <a:off x="0" y="0"/>
              <a:ext cx="5524500" cy="2238300"/>
            </a:xfrm>
            <a:prstGeom prst="roundRect">
              <a:avLst>
                <a:gd fmla="val 3404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" name="Google Shape;222;p18"/>
            <p:cNvSpPr/>
            <p:nvPr/>
          </p:nvSpPr>
          <p:spPr>
            <a:xfrm>
              <a:off x="0" y="0"/>
              <a:ext cx="57300" cy="22383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" name="Google Shape;223;p18"/>
            <p:cNvSpPr txBox="1"/>
            <p:nvPr/>
          </p:nvSpPr>
          <p:spPr>
            <a:xfrm>
              <a:off x="238125" y="190500"/>
              <a:ext cx="5048400" cy="1857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rPr>
                <a:t>Feature Selection Logic</a:t>
              </a:r>
              <a:endParaRPr b="1" sz="1600">
                <a:solidFill>
                  <a:srgbClr val="1A73E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rPr>
                <a:t>▪ Climate:</a:t>
              </a:r>
              <a:r>
                <a:rPr b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fwi_max (headline fire-weather hazard), dc_max (drought/fuel-dryness proxy, r≈0.35 with fwi_max).</a:t>
              </a:r>
              <a:endParaRPr b="0" sz="13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rPr>
                <a:t>▪ Geospatial:</a:t>
              </a:r>
              <a:r>
                <a:rPr b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dominant_fuel_pct — low collinearity with both climate features (r&lt;0.1).</a:t>
              </a:r>
              <a:endParaRPr b="0" sz="13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EA4335"/>
                  </a:solidFill>
                  <a:latin typeface="Calibri"/>
                  <a:ea typeface="Calibri"/>
                  <a:cs typeface="Calibri"/>
                  <a:sym typeface="Calibri"/>
                </a:rPr>
                <a:t>▪ Constraint:</a:t>
              </a:r>
              <a:r>
                <a:rPr b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Why only 3 predictors? FWI-family features are almost collinear (r&gt;0.9) — EDA ruled out using several together.</a:t>
              </a:r>
              <a:endParaRPr b="0" sz="13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4" name="Google Shape;224;p18"/>
          <p:cNvGrpSpPr/>
          <p:nvPr/>
        </p:nvGrpSpPr>
        <p:grpSpPr>
          <a:xfrm>
            <a:off x="502920" y="3667125"/>
            <a:ext cx="5524500" cy="2571900"/>
            <a:chOff x="0" y="0"/>
            <a:chExt cx="5524500" cy="2571900"/>
          </a:xfrm>
        </p:grpSpPr>
        <p:sp>
          <p:nvSpPr>
            <p:cNvPr id="225" name="Google Shape;225;p18"/>
            <p:cNvSpPr/>
            <p:nvPr/>
          </p:nvSpPr>
          <p:spPr>
            <a:xfrm>
              <a:off x="0" y="0"/>
              <a:ext cx="5524500" cy="2571900"/>
            </a:xfrm>
            <a:prstGeom prst="roundRect">
              <a:avLst>
                <a:gd fmla="val 296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" name="Google Shape;226;p18"/>
            <p:cNvSpPr/>
            <p:nvPr/>
          </p:nvSpPr>
          <p:spPr>
            <a:xfrm>
              <a:off x="0" y="0"/>
              <a:ext cx="57300" cy="2571900"/>
            </a:xfrm>
            <a:prstGeom prst="roundRect">
              <a:avLst>
                <a:gd fmla="val 50000" name="adj"/>
              </a:avLst>
            </a:prstGeom>
            <a:solidFill>
              <a:srgbClr val="1F4E5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" name="Google Shape;227;p18"/>
            <p:cNvSpPr txBox="1"/>
            <p:nvPr/>
          </p:nvSpPr>
          <p:spPr>
            <a:xfrm>
              <a:off x="238125" y="190500"/>
              <a:ext cx="5048400" cy="2190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1F4E5F"/>
                  </a:solidFill>
                  <a:latin typeface="Calibri"/>
                  <a:ea typeface="Calibri"/>
                  <a:cs typeface="Calibri"/>
                  <a:sym typeface="Calibri"/>
                </a:rPr>
                <a:t>Model Evolution Narrative</a:t>
              </a:r>
              <a:endParaRPr b="1" sz="1600">
                <a:solidFill>
                  <a:srgbClr val="1F4E5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1F4E5F"/>
                  </a:solidFill>
                  <a:latin typeface="Calibri"/>
                  <a:ea typeface="Calibri"/>
                  <a:cs typeface="Calibri"/>
                  <a:sym typeface="Calibri"/>
                </a:rPr>
                <a:t>1.</a:t>
              </a:r>
              <a:r>
                <a:rPr b="1" lang="en-US" sz="13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Poisson baseline</a:t>
              </a:r>
              <a:r>
                <a:rPr b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b="1" lang="en-US" sz="1300">
                  <a:solidFill>
                    <a:srgbClr val="EA4335"/>
                  </a:solidFill>
                  <a:latin typeface="Calibri"/>
                  <a:ea typeface="Calibri"/>
                  <a:cs typeface="Calibri"/>
                  <a:sym typeface="Calibri"/>
                </a:rPr>
                <a:t>→</a:t>
              </a:r>
              <a:r>
                <a:rPr b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 badly overdispersed.</a:t>
              </a:r>
              <a:endParaRPr b="0" sz="13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1F4E5F"/>
                  </a:solidFill>
                  <a:latin typeface="Calibri"/>
                  <a:ea typeface="Calibri"/>
                  <a:cs typeface="Calibri"/>
                  <a:sym typeface="Calibri"/>
                </a:rPr>
                <a:t>2.</a:t>
              </a:r>
              <a:r>
                <a:rPr b="1" lang="en-US" sz="13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Negative Binomial</a:t>
              </a:r>
              <a:r>
                <a:rPr b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b="1" lang="en-US" sz="1300">
                  <a:solidFill>
                    <a:srgbClr val="22C55E"/>
                  </a:solidFill>
                  <a:latin typeface="Calibri"/>
                  <a:ea typeface="Calibri"/>
                  <a:cs typeface="Calibri"/>
                  <a:sym typeface="Calibri"/>
                </a:rPr>
                <a:t>→</a:t>
              </a:r>
              <a:r>
                <a:rPr b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 substantially better fit.</a:t>
              </a:r>
              <a:endParaRPr b="0" sz="13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1F4E5F"/>
                  </a:solidFill>
                  <a:latin typeface="Calibri"/>
                  <a:ea typeface="Calibri"/>
                  <a:cs typeface="Calibri"/>
                  <a:sym typeface="Calibri"/>
                </a:rPr>
                <a:t>3.</a:t>
              </a:r>
              <a:r>
                <a:rPr b="1" lang="en-US" sz="13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Multiple FWI features together</a:t>
              </a:r>
              <a:r>
                <a:rPr b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b="1" lang="en-US" sz="1300">
                  <a:solidFill>
                    <a:srgbClr val="EA4335"/>
                  </a:solidFill>
                  <a:latin typeface="Calibri"/>
                  <a:ea typeface="Calibri"/>
                  <a:cs typeface="Calibri"/>
                  <a:sym typeface="Calibri"/>
                </a:rPr>
                <a:t>→</a:t>
              </a:r>
              <a:r>
                <a:rPr b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 unacceptable multicollinearity.</a:t>
              </a:r>
              <a:endParaRPr b="0" sz="13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1F4E5F"/>
                  </a:solidFill>
                  <a:latin typeface="Calibri"/>
                  <a:ea typeface="Calibri"/>
                  <a:cs typeface="Calibri"/>
                  <a:sym typeface="Calibri"/>
                </a:rPr>
                <a:t>4.</a:t>
              </a:r>
              <a:r>
                <a:rPr b="1" lang="en-US" sz="13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Final specification</a:t>
              </a:r>
              <a:r>
                <a:rPr b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b="1" lang="en-US" sz="1300">
                  <a:solidFill>
                    <a:srgbClr val="4285F4"/>
                  </a:solidFill>
                  <a:latin typeface="Calibri"/>
                  <a:ea typeface="Calibri"/>
                  <a:cs typeface="Calibri"/>
                  <a:sym typeface="Calibri"/>
                </a:rPr>
                <a:t>→</a:t>
              </a:r>
              <a:r>
                <a:rPr b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 2 climate predictors + 1 geospatial predictor, followed by validation, spatial-dependence testing, and future-scenario application.</a:t>
              </a:r>
              <a:endParaRPr b="0" sz="13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8" name="Google Shape;228;p18"/>
          <p:cNvGrpSpPr/>
          <p:nvPr/>
        </p:nvGrpSpPr>
        <p:grpSpPr>
          <a:xfrm>
            <a:off x="6286500" y="1285875"/>
            <a:ext cx="5400600" cy="4953000"/>
            <a:chOff x="0" y="0"/>
            <a:chExt cx="5400600" cy="4953000"/>
          </a:xfrm>
        </p:grpSpPr>
        <p:sp>
          <p:nvSpPr>
            <p:cNvPr id="229" name="Google Shape;229;p18"/>
            <p:cNvSpPr/>
            <p:nvPr/>
          </p:nvSpPr>
          <p:spPr>
            <a:xfrm>
              <a:off x="0" y="0"/>
              <a:ext cx="5400600" cy="4953000"/>
            </a:xfrm>
            <a:prstGeom prst="roundRect">
              <a:avLst>
                <a:gd fmla="val 1538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" name="Google Shape;230;p18"/>
            <p:cNvSpPr txBox="1"/>
            <p:nvPr/>
          </p:nvSpPr>
          <p:spPr>
            <a:xfrm>
              <a:off x="190500" y="142875"/>
              <a:ext cx="50196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Model Evolution Pipeline</a:t>
              </a:r>
              <a:endParaRPr b="1" sz="15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231" name="Google Shape;231;p18"/>
            <p:cNvGrpSpPr/>
            <p:nvPr/>
          </p:nvGrpSpPr>
          <p:grpSpPr>
            <a:xfrm>
              <a:off x="1266825" y="523875"/>
              <a:ext cx="2857500" cy="381000"/>
              <a:chOff x="0" y="0"/>
              <a:chExt cx="2857500" cy="381000"/>
            </a:xfrm>
          </p:grpSpPr>
          <p:sp>
            <p:nvSpPr>
              <p:cNvPr id="232" name="Google Shape;232;p18"/>
              <p:cNvSpPr/>
              <p:nvPr/>
            </p:nvSpPr>
            <p:spPr>
              <a:xfrm>
                <a:off x="0" y="0"/>
                <a:ext cx="2857500" cy="381000"/>
              </a:xfrm>
              <a:prstGeom prst="roundRect">
                <a:avLst>
                  <a:gd fmla="val 15000" name="adj"/>
                </a:avLst>
              </a:prstGeom>
              <a:solidFill>
                <a:srgbClr val="4285F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3" name="Google Shape;233;p18"/>
              <p:cNvSpPr txBox="1"/>
              <p:nvPr/>
            </p:nvSpPr>
            <p:spPr>
              <a:xfrm>
                <a:off x="0" y="0"/>
                <a:ext cx="28575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2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Poisson baseline GLM</a:t>
                </a:r>
                <a:endParaRPr b="1" sz="1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4" name="Google Shape;234;p18"/>
            <p:cNvGrpSpPr/>
            <p:nvPr/>
          </p:nvGrpSpPr>
          <p:grpSpPr>
            <a:xfrm>
              <a:off x="2657475" y="904875"/>
              <a:ext cx="76200" cy="190425"/>
              <a:chOff x="9525" y="0"/>
              <a:chExt cx="76200" cy="190425"/>
            </a:xfrm>
          </p:grpSpPr>
          <p:sp>
            <p:nvSpPr>
              <p:cNvPr id="235" name="Google Shape;235;p18"/>
              <p:cNvSpPr/>
              <p:nvPr/>
            </p:nvSpPr>
            <p:spPr>
              <a:xfrm>
                <a:off x="47625" y="0"/>
                <a:ext cx="0" cy="1428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9050">
                <a:solidFill>
                  <a:srgbClr val="94A3B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" name="Google Shape;236;p18"/>
              <p:cNvSpPr/>
              <p:nvPr/>
            </p:nvSpPr>
            <p:spPr>
              <a:xfrm>
                <a:off x="9525" y="123825"/>
                <a:ext cx="76200" cy="66600"/>
              </a:xfrm>
              <a:custGeom>
                <a:rect b="b" l="l" r="r" t="t"/>
                <a:pathLst>
                  <a:path extrusionOk="0" h="120000" w="120000">
                    <a:moveTo>
                      <a:pt x="60000" y="120000"/>
                    </a:moveTo>
                    <a:lnTo>
                      <a:pt x="0" y="0"/>
                    </a:lnTo>
                    <a:lnTo>
                      <a:pt x="120000" y="0"/>
                    </a:lnTo>
                    <a:close/>
                  </a:path>
                </a:pathLst>
              </a:custGeom>
              <a:solidFill>
                <a:srgbClr val="94A3B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7" name="Google Shape;237;p18"/>
            <p:cNvGrpSpPr/>
            <p:nvPr/>
          </p:nvGrpSpPr>
          <p:grpSpPr>
            <a:xfrm>
              <a:off x="1266825" y="1095375"/>
              <a:ext cx="2857500" cy="342900"/>
              <a:chOff x="0" y="0"/>
              <a:chExt cx="2857500" cy="342900"/>
            </a:xfrm>
          </p:grpSpPr>
          <p:sp>
            <p:nvSpPr>
              <p:cNvPr id="238" name="Google Shape;238;p18"/>
              <p:cNvSpPr/>
              <p:nvPr/>
            </p:nvSpPr>
            <p:spPr>
              <a:xfrm>
                <a:off x="0" y="0"/>
                <a:ext cx="2857500" cy="342900"/>
              </a:xfrm>
              <a:prstGeom prst="roundRect">
                <a:avLst>
                  <a:gd fmla="val 16666" name="adj"/>
                </a:avLst>
              </a:prstGeom>
              <a:solidFill>
                <a:srgbClr val="FEE2E2"/>
              </a:solidFill>
              <a:ln cap="flat" cmpd="sng" w="9525">
                <a:solidFill>
                  <a:srgbClr val="FCA5A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" name="Google Shape;239;p18"/>
              <p:cNvSpPr txBox="1"/>
              <p:nvPr/>
            </p:nvSpPr>
            <p:spPr>
              <a:xfrm>
                <a:off x="0" y="0"/>
                <a:ext cx="2857500" cy="342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100">
                    <a:solidFill>
                      <a:srgbClr val="991B1B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Overdispersion identified</a:t>
                </a:r>
                <a:endParaRPr b="1" sz="1100">
                  <a:solidFill>
                    <a:srgbClr val="991B1B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40" name="Google Shape;240;p18"/>
            <p:cNvGrpSpPr/>
            <p:nvPr/>
          </p:nvGrpSpPr>
          <p:grpSpPr>
            <a:xfrm>
              <a:off x="2657475" y="1438275"/>
              <a:ext cx="76200" cy="190425"/>
              <a:chOff x="9525" y="0"/>
              <a:chExt cx="76200" cy="190425"/>
            </a:xfrm>
          </p:grpSpPr>
          <p:sp>
            <p:nvSpPr>
              <p:cNvPr id="241" name="Google Shape;241;p18"/>
              <p:cNvSpPr/>
              <p:nvPr/>
            </p:nvSpPr>
            <p:spPr>
              <a:xfrm>
                <a:off x="47625" y="0"/>
                <a:ext cx="0" cy="1428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9050">
                <a:solidFill>
                  <a:srgbClr val="94A3B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2" name="Google Shape;242;p18"/>
              <p:cNvSpPr/>
              <p:nvPr/>
            </p:nvSpPr>
            <p:spPr>
              <a:xfrm>
                <a:off x="9525" y="123825"/>
                <a:ext cx="76200" cy="66600"/>
              </a:xfrm>
              <a:custGeom>
                <a:rect b="b" l="l" r="r" t="t"/>
                <a:pathLst>
                  <a:path extrusionOk="0" h="120000" w="120000">
                    <a:moveTo>
                      <a:pt x="60000" y="120000"/>
                    </a:moveTo>
                    <a:lnTo>
                      <a:pt x="0" y="0"/>
                    </a:lnTo>
                    <a:lnTo>
                      <a:pt x="120000" y="0"/>
                    </a:lnTo>
                    <a:close/>
                  </a:path>
                </a:pathLst>
              </a:custGeom>
              <a:solidFill>
                <a:srgbClr val="94A3B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3" name="Google Shape;243;p18"/>
            <p:cNvGrpSpPr/>
            <p:nvPr/>
          </p:nvGrpSpPr>
          <p:grpSpPr>
            <a:xfrm>
              <a:off x="1266825" y="1628775"/>
              <a:ext cx="2857500" cy="381000"/>
              <a:chOff x="0" y="0"/>
              <a:chExt cx="2857500" cy="381000"/>
            </a:xfrm>
          </p:grpSpPr>
          <p:sp>
            <p:nvSpPr>
              <p:cNvPr id="244" name="Google Shape;244;p18"/>
              <p:cNvSpPr/>
              <p:nvPr/>
            </p:nvSpPr>
            <p:spPr>
              <a:xfrm>
                <a:off x="0" y="0"/>
                <a:ext cx="2857500" cy="381000"/>
              </a:xfrm>
              <a:prstGeom prst="roundRect">
                <a:avLst>
                  <a:gd fmla="val 15000" name="adj"/>
                </a:avLst>
              </a:prstGeom>
              <a:solidFill>
                <a:srgbClr val="1F4E5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" name="Google Shape;245;p18"/>
              <p:cNvSpPr txBox="1"/>
              <p:nvPr/>
            </p:nvSpPr>
            <p:spPr>
              <a:xfrm>
                <a:off x="0" y="0"/>
                <a:ext cx="28575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2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Negative Binomial GLM</a:t>
                </a:r>
                <a:endParaRPr b="1" sz="1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46" name="Google Shape;246;p18"/>
            <p:cNvGrpSpPr/>
            <p:nvPr/>
          </p:nvGrpSpPr>
          <p:grpSpPr>
            <a:xfrm>
              <a:off x="2657475" y="2009775"/>
              <a:ext cx="76200" cy="190425"/>
              <a:chOff x="9525" y="0"/>
              <a:chExt cx="76200" cy="190425"/>
            </a:xfrm>
          </p:grpSpPr>
          <p:sp>
            <p:nvSpPr>
              <p:cNvPr id="247" name="Google Shape;247;p18"/>
              <p:cNvSpPr/>
              <p:nvPr/>
            </p:nvSpPr>
            <p:spPr>
              <a:xfrm>
                <a:off x="47625" y="0"/>
                <a:ext cx="0" cy="1428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9050">
                <a:solidFill>
                  <a:srgbClr val="94A3B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" name="Google Shape;248;p18"/>
              <p:cNvSpPr/>
              <p:nvPr/>
            </p:nvSpPr>
            <p:spPr>
              <a:xfrm>
                <a:off x="9525" y="123825"/>
                <a:ext cx="76200" cy="66600"/>
              </a:xfrm>
              <a:custGeom>
                <a:rect b="b" l="l" r="r" t="t"/>
                <a:pathLst>
                  <a:path extrusionOk="0" h="120000" w="120000">
                    <a:moveTo>
                      <a:pt x="60000" y="120000"/>
                    </a:moveTo>
                    <a:lnTo>
                      <a:pt x="0" y="0"/>
                    </a:lnTo>
                    <a:lnTo>
                      <a:pt x="120000" y="0"/>
                    </a:lnTo>
                    <a:close/>
                  </a:path>
                </a:pathLst>
              </a:custGeom>
              <a:solidFill>
                <a:srgbClr val="94A3B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9" name="Google Shape;249;p18"/>
            <p:cNvGrpSpPr/>
            <p:nvPr/>
          </p:nvGrpSpPr>
          <p:grpSpPr>
            <a:xfrm>
              <a:off x="1266825" y="2200275"/>
              <a:ext cx="2857500" cy="342900"/>
              <a:chOff x="0" y="0"/>
              <a:chExt cx="2857500" cy="342900"/>
            </a:xfrm>
          </p:grpSpPr>
          <p:sp>
            <p:nvSpPr>
              <p:cNvPr id="250" name="Google Shape;250;p18"/>
              <p:cNvSpPr/>
              <p:nvPr/>
            </p:nvSpPr>
            <p:spPr>
              <a:xfrm>
                <a:off x="0" y="0"/>
                <a:ext cx="2857500" cy="342900"/>
              </a:xfrm>
              <a:prstGeom prst="roundRect">
                <a:avLst>
                  <a:gd fmla="val 16666" name="adj"/>
                </a:avLst>
              </a:prstGeom>
              <a:solidFill>
                <a:srgbClr val="FEE2E2"/>
              </a:solidFill>
              <a:ln cap="flat" cmpd="sng" w="9525">
                <a:solidFill>
                  <a:srgbClr val="FCA5A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" name="Google Shape;251;p18"/>
              <p:cNvSpPr txBox="1"/>
              <p:nvPr/>
            </p:nvSpPr>
            <p:spPr>
              <a:xfrm>
                <a:off x="0" y="0"/>
                <a:ext cx="2857500" cy="342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100">
                    <a:solidFill>
                      <a:srgbClr val="991B1B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Multicollinearity identified</a:t>
                </a:r>
                <a:endParaRPr b="1" sz="1100">
                  <a:solidFill>
                    <a:srgbClr val="991B1B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2" name="Google Shape;252;p18"/>
            <p:cNvGrpSpPr/>
            <p:nvPr/>
          </p:nvGrpSpPr>
          <p:grpSpPr>
            <a:xfrm>
              <a:off x="2657475" y="2543175"/>
              <a:ext cx="76200" cy="190425"/>
              <a:chOff x="9525" y="0"/>
              <a:chExt cx="76200" cy="190425"/>
            </a:xfrm>
          </p:grpSpPr>
          <p:sp>
            <p:nvSpPr>
              <p:cNvPr id="253" name="Google Shape;253;p18"/>
              <p:cNvSpPr/>
              <p:nvPr/>
            </p:nvSpPr>
            <p:spPr>
              <a:xfrm>
                <a:off x="47625" y="0"/>
                <a:ext cx="0" cy="1428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9050">
                <a:solidFill>
                  <a:srgbClr val="94A3B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4" name="Google Shape;254;p18"/>
              <p:cNvSpPr/>
              <p:nvPr/>
            </p:nvSpPr>
            <p:spPr>
              <a:xfrm>
                <a:off x="9525" y="123825"/>
                <a:ext cx="76200" cy="66600"/>
              </a:xfrm>
              <a:custGeom>
                <a:rect b="b" l="l" r="r" t="t"/>
                <a:pathLst>
                  <a:path extrusionOk="0" h="120000" w="120000">
                    <a:moveTo>
                      <a:pt x="60000" y="120000"/>
                    </a:moveTo>
                    <a:lnTo>
                      <a:pt x="0" y="0"/>
                    </a:lnTo>
                    <a:lnTo>
                      <a:pt x="120000" y="0"/>
                    </a:lnTo>
                    <a:close/>
                  </a:path>
                </a:pathLst>
              </a:custGeom>
              <a:solidFill>
                <a:srgbClr val="94A3B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5" name="Google Shape;255;p18"/>
            <p:cNvGrpSpPr/>
            <p:nvPr/>
          </p:nvGrpSpPr>
          <p:grpSpPr>
            <a:xfrm>
              <a:off x="1266825" y="2733675"/>
              <a:ext cx="2857500" cy="381000"/>
              <a:chOff x="0" y="0"/>
              <a:chExt cx="2857500" cy="381000"/>
            </a:xfrm>
          </p:grpSpPr>
          <p:sp>
            <p:nvSpPr>
              <p:cNvPr id="256" name="Google Shape;256;p18"/>
              <p:cNvSpPr/>
              <p:nvPr/>
            </p:nvSpPr>
            <p:spPr>
              <a:xfrm>
                <a:off x="0" y="0"/>
                <a:ext cx="2857500" cy="381000"/>
              </a:xfrm>
              <a:prstGeom prst="roundRect">
                <a:avLst>
                  <a:gd fmla="val 15000" name="adj"/>
                </a:avLst>
              </a:prstGeom>
              <a:solidFill>
                <a:srgbClr val="E8F0FE"/>
              </a:solidFill>
              <a:ln cap="flat" cmpd="sng" w="9525">
                <a:solidFill>
                  <a:srgbClr val="4285F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" name="Google Shape;257;p18"/>
              <p:cNvSpPr txBox="1"/>
              <p:nvPr/>
            </p:nvSpPr>
            <p:spPr>
              <a:xfrm>
                <a:off x="0" y="0"/>
                <a:ext cx="28575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150">
                    <a:solidFill>
                      <a:srgbClr val="1A73E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Feature Selection (2 Climate + 1 Fuel)</a:t>
                </a:r>
                <a:endParaRPr b="1" sz="1150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8" name="Google Shape;258;p18"/>
            <p:cNvGrpSpPr/>
            <p:nvPr/>
          </p:nvGrpSpPr>
          <p:grpSpPr>
            <a:xfrm>
              <a:off x="2657475" y="3114675"/>
              <a:ext cx="76200" cy="190425"/>
              <a:chOff x="9525" y="0"/>
              <a:chExt cx="76200" cy="190425"/>
            </a:xfrm>
          </p:grpSpPr>
          <p:sp>
            <p:nvSpPr>
              <p:cNvPr id="259" name="Google Shape;259;p18"/>
              <p:cNvSpPr/>
              <p:nvPr/>
            </p:nvSpPr>
            <p:spPr>
              <a:xfrm>
                <a:off x="47625" y="0"/>
                <a:ext cx="0" cy="1428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9050">
                <a:solidFill>
                  <a:srgbClr val="94A3B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0" name="Google Shape;260;p18"/>
              <p:cNvSpPr/>
              <p:nvPr/>
            </p:nvSpPr>
            <p:spPr>
              <a:xfrm>
                <a:off x="9525" y="123825"/>
                <a:ext cx="76200" cy="66600"/>
              </a:xfrm>
              <a:custGeom>
                <a:rect b="b" l="l" r="r" t="t"/>
                <a:pathLst>
                  <a:path extrusionOk="0" h="120000" w="120000">
                    <a:moveTo>
                      <a:pt x="60000" y="120000"/>
                    </a:moveTo>
                    <a:lnTo>
                      <a:pt x="0" y="0"/>
                    </a:lnTo>
                    <a:lnTo>
                      <a:pt x="120000" y="0"/>
                    </a:lnTo>
                    <a:close/>
                  </a:path>
                </a:pathLst>
              </a:custGeom>
              <a:solidFill>
                <a:srgbClr val="94A3B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61" name="Google Shape;261;p18"/>
            <p:cNvGrpSpPr/>
            <p:nvPr/>
          </p:nvGrpSpPr>
          <p:grpSpPr>
            <a:xfrm>
              <a:off x="1266825" y="3305175"/>
              <a:ext cx="2857500" cy="381000"/>
              <a:chOff x="0" y="0"/>
              <a:chExt cx="2857500" cy="381000"/>
            </a:xfrm>
          </p:grpSpPr>
          <p:sp>
            <p:nvSpPr>
              <p:cNvPr id="262" name="Google Shape;262;p18"/>
              <p:cNvSpPr/>
              <p:nvPr/>
            </p:nvSpPr>
            <p:spPr>
              <a:xfrm>
                <a:off x="0" y="0"/>
                <a:ext cx="2857500" cy="381000"/>
              </a:xfrm>
              <a:prstGeom prst="roundRect">
                <a:avLst>
                  <a:gd fmla="val 15000" name="adj"/>
                </a:avLst>
              </a:prstGeom>
              <a:solidFill>
                <a:srgbClr val="E8F0FE"/>
              </a:solidFill>
              <a:ln cap="flat" cmpd="sng" w="9525">
                <a:solidFill>
                  <a:srgbClr val="4285F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3" name="Google Shape;263;p18"/>
              <p:cNvSpPr txBox="1"/>
              <p:nvPr/>
            </p:nvSpPr>
            <p:spPr>
              <a:xfrm>
                <a:off x="0" y="0"/>
                <a:ext cx="28575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150">
                    <a:solidFill>
                      <a:srgbClr val="1A73E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Model Validation (LOEO + Spatial)</a:t>
                </a:r>
                <a:endParaRPr b="1" sz="1150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64" name="Google Shape;264;p18"/>
            <p:cNvGrpSpPr/>
            <p:nvPr/>
          </p:nvGrpSpPr>
          <p:grpSpPr>
            <a:xfrm>
              <a:off x="2657475" y="3686175"/>
              <a:ext cx="76200" cy="190425"/>
              <a:chOff x="9525" y="0"/>
              <a:chExt cx="76200" cy="190425"/>
            </a:xfrm>
          </p:grpSpPr>
          <p:sp>
            <p:nvSpPr>
              <p:cNvPr id="265" name="Google Shape;265;p18"/>
              <p:cNvSpPr/>
              <p:nvPr/>
            </p:nvSpPr>
            <p:spPr>
              <a:xfrm>
                <a:off x="47625" y="0"/>
                <a:ext cx="0" cy="1428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9050">
                <a:solidFill>
                  <a:srgbClr val="94A3B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6" name="Google Shape;266;p18"/>
              <p:cNvSpPr/>
              <p:nvPr/>
            </p:nvSpPr>
            <p:spPr>
              <a:xfrm>
                <a:off x="9525" y="123825"/>
                <a:ext cx="76200" cy="66600"/>
              </a:xfrm>
              <a:custGeom>
                <a:rect b="b" l="l" r="r" t="t"/>
                <a:pathLst>
                  <a:path extrusionOk="0" h="120000" w="120000">
                    <a:moveTo>
                      <a:pt x="60000" y="120000"/>
                    </a:moveTo>
                    <a:lnTo>
                      <a:pt x="0" y="0"/>
                    </a:lnTo>
                    <a:lnTo>
                      <a:pt x="120000" y="0"/>
                    </a:lnTo>
                    <a:close/>
                  </a:path>
                </a:pathLst>
              </a:custGeom>
              <a:solidFill>
                <a:srgbClr val="94A3B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67" name="Google Shape;267;p18"/>
            <p:cNvGrpSpPr/>
            <p:nvPr/>
          </p:nvGrpSpPr>
          <p:grpSpPr>
            <a:xfrm>
              <a:off x="1266825" y="3876675"/>
              <a:ext cx="2857500" cy="381000"/>
              <a:chOff x="0" y="0"/>
              <a:chExt cx="2857500" cy="381000"/>
            </a:xfrm>
          </p:grpSpPr>
          <p:sp>
            <p:nvSpPr>
              <p:cNvPr id="268" name="Google Shape;268;p18"/>
              <p:cNvSpPr/>
              <p:nvPr/>
            </p:nvSpPr>
            <p:spPr>
              <a:xfrm>
                <a:off x="0" y="0"/>
                <a:ext cx="2857500" cy="381000"/>
              </a:xfrm>
              <a:prstGeom prst="roundRect">
                <a:avLst>
                  <a:gd fmla="val 15000" name="adj"/>
                </a:avLst>
              </a:prstGeom>
              <a:solidFill>
                <a:srgbClr val="E8F0FE"/>
              </a:solidFill>
              <a:ln cap="flat" cmpd="sng" w="9525">
                <a:solidFill>
                  <a:srgbClr val="4285F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9" name="Google Shape;269;p18"/>
              <p:cNvSpPr txBox="1"/>
              <p:nvPr/>
            </p:nvSpPr>
            <p:spPr>
              <a:xfrm>
                <a:off x="0" y="0"/>
                <a:ext cx="28575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150">
                    <a:solidFill>
                      <a:srgbClr val="1A73E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Future Climate (SSP1-2.6 Illustrative)</a:t>
                </a:r>
                <a:endParaRPr b="1" sz="1150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18"/>
            <p:cNvGrpSpPr/>
            <p:nvPr/>
          </p:nvGrpSpPr>
          <p:grpSpPr>
            <a:xfrm>
              <a:off x="2657475" y="4257675"/>
              <a:ext cx="76200" cy="190425"/>
              <a:chOff x="9525" y="0"/>
              <a:chExt cx="76200" cy="190425"/>
            </a:xfrm>
          </p:grpSpPr>
          <p:sp>
            <p:nvSpPr>
              <p:cNvPr id="271" name="Google Shape;271;p18"/>
              <p:cNvSpPr/>
              <p:nvPr/>
            </p:nvSpPr>
            <p:spPr>
              <a:xfrm>
                <a:off x="47625" y="0"/>
                <a:ext cx="0" cy="1428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9050">
                <a:solidFill>
                  <a:srgbClr val="94A3B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2" name="Google Shape;272;p18"/>
              <p:cNvSpPr/>
              <p:nvPr/>
            </p:nvSpPr>
            <p:spPr>
              <a:xfrm>
                <a:off x="9525" y="123825"/>
                <a:ext cx="76200" cy="66600"/>
              </a:xfrm>
              <a:custGeom>
                <a:rect b="b" l="l" r="r" t="t"/>
                <a:pathLst>
                  <a:path extrusionOk="0" h="120000" w="120000">
                    <a:moveTo>
                      <a:pt x="60000" y="120000"/>
                    </a:moveTo>
                    <a:lnTo>
                      <a:pt x="0" y="0"/>
                    </a:lnTo>
                    <a:lnTo>
                      <a:pt x="120000" y="0"/>
                    </a:lnTo>
                    <a:close/>
                  </a:path>
                </a:pathLst>
              </a:custGeom>
              <a:solidFill>
                <a:srgbClr val="94A3B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73" name="Google Shape;273;p18"/>
            <p:cNvGrpSpPr/>
            <p:nvPr/>
          </p:nvGrpSpPr>
          <p:grpSpPr>
            <a:xfrm>
              <a:off x="1266825" y="4448175"/>
              <a:ext cx="2857500" cy="381000"/>
              <a:chOff x="0" y="0"/>
              <a:chExt cx="2857500" cy="381000"/>
            </a:xfrm>
          </p:grpSpPr>
          <p:sp>
            <p:nvSpPr>
              <p:cNvPr id="274" name="Google Shape;274;p18"/>
              <p:cNvSpPr/>
              <p:nvPr/>
            </p:nvSpPr>
            <p:spPr>
              <a:xfrm>
                <a:off x="0" y="0"/>
                <a:ext cx="2857500" cy="381000"/>
              </a:xfrm>
              <a:prstGeom prst="roundRect">
                <a:avLst>
                  <a:gd fmla="val 15000" name="adj"/>
                </a:avLst>
              </a:prstGeom>
              <a:solidFill>
                <a:srgbClr val="22C55E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5" name="Google Shape;275;p18"/>
              <p:cNvSpPr txBox="1"/>
              <p:nvPr/>
            </p:nvSpPr>
            <p:spPr>
              <a:xfrm>
                <a:off x="0" y="0"/>
                <a:ext cx="28575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25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Final Robust Model</a:t>
                </a:r>
                <a:endParaRPr b="1" sz="125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276" name="Google Shape;276;p18"/>
          <p:cNvSpPr txBox="1"/>
          <p:nvPr/>
        </p:nvSpPr>
        <p:spPr>
          <a:xfrm>
            <a:off x="502920" y="6528816"/>
            <a:ext cx="7315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Wildfire Insured-Loss Modelling — Alberta Portfolio</a:t>
            </a:r>
            <a:endParaRPr/>
          </a:p>
        </p:txBody>
      </p:sp>
      <p:sp>
        <p:nvSpPr>
          <p:cNvPr id="277" name="Google Shape;277;p18"/>
          <p:cNvSpPr txBox="1"/>
          <p:nvPr/>
        </p:nvSpPr>
        <p:spPr>
          <a:xfrm>
            <a:off x="11338560" y="6528816"/>
            <a:ext cx="457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9"/>
          <p:cNvSpPr/>
          <p:nvPr/>
        </p:nvSpPr>
        <p:spPr>
          <a:xfrm>
            <a:off x="0" y="0"/>
            <a:ext cx="12191700" cy="1051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9"/>
          <p:cNvSpPr txBox="1"/>
          <p:nvPr/>
        </p:nvSpPr>
        <p:spPr>
          <a:xfrm>
            <a:off x="502920" y="109728"/>
            <a:ext cx="10058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D9C9"/>
                </a:solidFill>
                <a:latin typeface="Calibri"/>
                <a:ea typeface="Calibri"/>
                <a:cs typeface="Calibri"/>
                <a:sym typeface="Calibri"/>
              </a:rPr>
              <a:t>MODEL FITTING</a:t>
            </a:r>
            <a:endParaRPr/>
          </a:p>
        </p:txBody>
      </p:sp>
      <p:sp>
        <p:nvSpPr>
          <p:cNvPr id="284" name="Google Shape;284;p19"/>
          <p:cNvSpPr txBox="1"/>
          <p:nvPr/>
        </p:nvSpPr>
        <p:spPr>
          <a:xfrm>
            <a:off x="502920" y="384048"/>
            <a:ext cx="109728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 Results — Frequency &amp; Severity</a:t>
            </a:r>
            <a:endParaRPr/>
          </a:p>
        </p:txBody>
      </p:sp>
      <p:grpSp>
        <p:nvGrpSpPr>
          <p:cNvPr id="285" name="Google Shape;285;p19"/>
          <p:cNvGrpSpPr/>
          <p:nvPr/>
        </p:nvGrpSpPr>
        <p:grpSpPr>
          <a:xfrm>
            <a:off x="502925" y="3866625"/>
            <a:ext cx="5224332" cy="1181991"/>
            <a:chOff x="0" y="0"/>
            <a:chExt cx="5633310" cy="2190900"/>
          </a:xfrm>
        </p:grpSpPr>
        <p:sp>
          <p:nvSpPr>
            <p:cNvPr id="286" name="Google Shape;286;p19"/>
            <p:cNvSpPr/>
            <p:nvPr/>
          </p:nvSpPr>
          <p:spPr>
            <a:xfrm>
              <a:off x="0" y="0"/>
              <a:ext cx="5334000" cy="2190900"/>
            </a:xfrm>
            <a:prstGeom prst="roundRect">
              <a:avLst>
                <a:gd fmla="val 2608" name="adj"/>
              </a:avLst>
            </a:prstGeom>
            <a:solidFill>
              <a:srgbClr val="FFFFFF"/>
            </a:solidFill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" name="Google Shape;287;p19"/>
            <p:cNvSpPr/>
            <p:nvPr/>
          </p:nvSpPr>
          <p:spPr>
            <a:xfrm>
              <a:off x="0" y="0"/>
              <a:ext cx="57300" cy="21909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" name="Google Shape;288;p19"/>
            <p:cNvSpPr txBox="1"/>
            <p:nvPr/>
          </p:nvSpPr>
          <p:spPr>
            <a:xfrm>
              <a:off x="238110" y="190500"/>
              <a:ext cx="5395200" cy="1809600"/>
            </a:xfrm>
            <a:prstGeom prst="rect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4285F4"/>
                  </a:solidFill>
                  <a:latin typeface="Calibri"/>
                  <a:ea typeface="Calibri"/>
                  <a:cs typeface="Calibri"/>
                  <a:sym typeface="Calibri"/>
                </a:rPr>
                <a:t>Frequency Model (Negative Binomial)</a:t>
              </a:r>
              <a:endParaRPr b="1" sz="1600">
                <a:solidFill>
                  <a:srgbClr val="4285F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Geospatial feature earns its place:</a:t>
              </a:r>
              <a:endParaRPr b="1" sz="130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555555"/>
                  </a:solidFill>
                  <a:latin typeface="Calibri"/>
                  <a:ea typeface="Calibri"/>
                  <a:cs typeface="Calibri"/>
                  <a:sym typeface="Calibri"/>
                </a:rPr>
                <a:t>Adding </a:t>
              </a:r>
              <a:r>
                <a:rPr b="1" lang="en-US" sz="1300">
                  <a:solidFill>
                    <a:srgbClr val="2A2A2A"/>
                  </a:solidFill>
                  <a:latin typeface="Consolas"/>
                  <a:ea typeface="Consolas"/>
                  <a:cs typeface="Consolas"/>
                  <a:sym typeface="Consolas"/>
                </a:rPr>
                <a:t>dominant_fuel_pct</a:t>
              </a:r>
              <a:r>
                <a:rPr b="0" lang="en-US" sz="1300">
                  <a:solidFill>
                    <a:srgbClr val="555555"/>
                  </a:solidFill>
                  <a:latin typeface="Calibri"/>
                  <a:ea typeface="Calibri"/>
                  <a:cs typeface="Calibri"/>
                  <a:sym typeface="Calibri"/>
                </a:rPr>
                <a:t> improves AIC by 21.0 and a likelihood-ratio test rejects the reduced (climate-only) model strongly (p=1.65×10⁻⁶).</a:t>
              </a:r>
              <a:endParaRPr b="0" sz="130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9" name="Google Shape;289;p19"/>
          <p:cNvGrpSpPr/>
          <p:nvPr/>
        </p:nvGrpSpPr>
        <p:grpSpPr>
          <a:xfrm>
            <a:off x="502925" y="5163600"/>
            <a:ext cx="5224359" cy="1240049"/>
            <a:chOff x="0" y="0"/>
            <a:chExt cx="5572055" cy="2190900"/>
          </a:xfrm>
        </p:grpSpPr>
        <p:sp>
          <p:nvSpPr>
            <p:cNvPr id="290" name="Google Shape;290;p19"/>
            <p:cNvSpPr/>
            <p:nvPr/>
          </p:nvSpPr>
          <p:spPr>
            <a:xfrm>
              <a:off x="0" y="0"/>
              <a:ext cx="5334000" cy="2190900"/>
            </a:xfrm>
            <a:prstGeom prst="roundRect">
              <a:avLst>
                <a:gd fmla="val 2608" name="adj"/>
              </a:avLst>
            </a:prstGeom>
            <a:solidFill>
              <a:srgbClr val="FFFFFF"/>
            </a:solidFill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" name="Google Shape;291;p19"/>
            <p:cNvSpPr/>
            <p:nvPr/>
          </p:nvSpPr>
          <p:spPr>
            <a:xfrm>
              <a:off x="0" y="0"/>
              <a:ext cx="57300" cy="2190900"/>
            </a:xfrm>
            <a:prstGeom prst="roundRect">
              <a:avLst>
                <a:gd fmla="val 50000" name="adj"/>
              </a:avLst>
            </a:prstGeom>
            <a:solidFill>
              <a:srgbClr val="1F4E5F"/>
            </a:solidFill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" name="Google Shape;292;p19"/>
            <p:cNvSpPr txBox="1"/>
            <p:nvPr/>
          </p:nvSpPr>
          <p:spPr>
            <a:xfrm>
              <a:off x="238055" y="265901"/>
              <a:ext cx="5334000" cy="1649700"/>
            </a:xfrm>
            <a:prstGeom prst="rect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1F4E5F"/>
                  </a:solidFill>
                  <a:latin typeface="Calibri"/>
                  <a:ea typeface="Calibri"/>
                  <a:cs typeface="Calibri"/>
                  <a:sym typeface="Calibri"/>
                </a:rPr>
                <a:t>Severity Model (Gamma)</a:t>
              </a:r>
              <a:endParaRPr b="1" sz="1600">
                <a:solidFill>
                  <a:srgbClr val="1F4E5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Limited statistical power:</a:t>
              </a:r>
              <a:endParaRPr b="1" sz="130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555555"/>
                  </a:solidFill>
                  <a:latin typeface="Calibri"/>
                  <a:ea typeface="Calibri"/>
                  <a:cs typeface="Calibri"/>
                  <a:sym typeface="Calibri"/>
                </a:rPr>
                <a:t>No predictor is significant on 76 usable rows — indicating limited power to detect relationships rather than confirming that none exist.</a:t>
              </a:r>
              <a:endParaRPr b="0" sz="130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93" name="Google Shape;293;p19"/>
          <p:cNvSpPr txBox="1"/>
          <p:nvPr/>
        </p:nvSpPr>
        <p:spPr>
          <a:xfrm>
            <a:off x="502920" y="6528816"/>
            <a:ext cx="7315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Wildfire Insured-Loss Modelling — Alberta Portfolio</a:t>
            </a:r>
            <a:endParaRPr/>
          </a:p>
        </p:txBody>
      </p:sp>
      <p:sp>
        <p:nvSpPr>
          <p:cNvPr id="294" name="Google Shape;294;p19"/>
          <p:cNvSpPr txBox="1"/>
          <p:nvPr/>
        </p:nvSpPr>
        <p:spPr>
          <a:xfrm>
            <a:off x="11338560" y="6528816"/>
            <a:ext cx="457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  <p:graphicFrame>
        <p:nvGraphicFramePr>
          <p:cNvPr id="295" name="Google Shape;295;p19"/>
          <p:cNvGraphicFramePr/>
          <p:nvPr/>
        </p:nvGraphicFramePr>
        <p:xfrm>
          <a:off x="502920" y="126769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{A319AEB0-B2B3-4B9F-96CE-301683A25E68}</a:tableStyleId>
              </a:tblPr>
              <a:tblGrid>
                <a:gridCol w="2377450"/>
                <a:gridCol w="1554475"/>
              </a:tblGrid>
              <a:tr h="350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Frequency model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AIC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chemeClr val="accent1"/>
                    </a:solidFill>
                  </a:tcPr>
                </a:tc>
              </a:tr>
              <a:tr h="350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Poisson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135,998.1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</a:tr>
              <a:tr h="350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rgbClr val="B32B1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Negative Binomial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rgbClr val="B32B1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1,196.8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6" name="Google Shape;296;p19"/>
          <p:cNvGraphicFramePr/>
          <p:nvPr/>
        </p:nvGraphicFramePr>
        <p:xfrm>
          <a:off x="6369773" y="459158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{A319AEB0-B2B3-4B9F-96CE-301683A25E68}</a:tableStyleId>
              </a:tblPr>
              <a:tblGrid>
                <a:gridCol w="2704800"/>
                <a:gridCol w="2401150"/>
              </a:tblGrid>
              <a:tr h="43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Metric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Value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chemeClr val="accent1"/>
                    </a:solidFill>
                  </a:tcPr>
                </a:tc>
              </a:tr>
              <a:tr h="43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Predicted / actual total loss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$41.4M / $106.9M (39%)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</a:tr>
              <a:tr h="43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MAE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$572,725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</a:tr>
              <a:tr h="43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RMSE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$3,336,833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id="297" name="Google Shape;297;p19"/>
          <p:cNvGrpSpPr/>
          <p:nvPr/>
        </p:nvGrpSpPr>
        <p:grpSpPr>
          <a:xfrm>
            <a:off x="4993000" y="1134075"/>
            <a:ext cx="7140976" cy="2780233"/>
            <a:chOff x="0" y="0"/>
            <a:chExt cx="5638800" cy="4572000"/>
          </a:xfrm>
        </p:grpSpPr>
        <p:sp>
          <p:nvSpPr>
            <p:cNvPr id="298" name="Google Shape;298;p19"/>
            <p:cNvSpPr/>
            <p:nvPr/>
          </p:nvSpPr>
          <p:spPr>
            <a:xfrm>
              <a:off x="0" y="0"/>
              <a:ext cx="5638800" cy="4572000"/>
            </a:xfrm>
            <a:prstGeom prst="roundRect">
              <a:avLst>
                <a:gd fmla="val 1666" name="adj"/>
              </a:avLst>
            </a:prstGeom>
            <a:solidFill>
              <a:schemeClr val="lt1"/>
            </a:solidFill>
            <a:ln cap="flat" cmpd="sng" w="10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" name="Google Shape;299;p19"/>
            <p:cNvSpPr txBox="1"/>
            <p:nvPr/>
          </p:nvSpPr>
          <p:spPr>
            <a:xfrm>
              <a:off x="190500" y="142875"/>
              <a:ext cx="52578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36">
                  <a:solidFill>
                    <a:srgbClr val="555555"/>
                  </a:solidFill>
                  <a:latin typeface="Calibri"/>
                  <a:ea typeface="Calibri"/>
                  <a:cs typeface="Calibri"/>
                  <a:sym typeface="Calibri"/>
                </a:rPr>
                <a:t>Model Coefficients &amp; Prediction Alignment</a:t>
              </a:r>
              <a:endParaRPr b="1" sz="1436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descr="alberta_coefficient_plot.png" id="300" name="Google Shape;300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03910" y="1827763"/>
            <a:ext cx="3383280" cy="238471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lberta_actual_vs_predicted_loss.png" id="301" name="Google Shape;301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941436" y="1648535"/>
            <a:ext cx="2746334" cy="27431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02" name="Google Shape;302;p19"/>
          <p:cNvGrpSpPr/>
          <p:nvPr/>
        </p:nvGrpSpPr>
        <p:grpSpPr>
          <a:xfrm>
            <a:off x="502925" y="2569638"/>
            <a:ext cx="4812868" cy="1181991"/>
            <a:chOff x="0" y="0"/>
            <a:chExt cx="5334000" cy="2190900"/>
          </a:xfrm>
        </p:grpSpPr>
        <p:sp>
          <p:nvSpPr>
            <p:cNvPr id="303" name="Google Shape;303;p19"/>
            <p:cNvSpPr/>
            <p:nvPr/>
          </p:nvSpPr>
          <p:spPr>
            <a:xfrm>
              <a:off x="0" y="0"/>
              <a:ext cx="5334000" cy="2190900"/>
            </a:xfrm>
            <a:prstGeom prst="roundRect">
              <a:avLst>
                <a:gd fmla="val 2608" name="adj"/>
              </a:avLst>
            </a:prstGeom>
            <a:solidFill>
              <a:srgbClr val="FFFFFF"/>
            </a:solidFill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" name="Google Shape;304;p19"/>
            <p:cNvSpPr/>
            <p:nvPr/>
          </p:nvSpPr>
          <p:spPr>
            <a:xfrm>
              <a:off x="0" y="0"/>
              <a:ext cx="57300" cy="21909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" name="Google Shape;305;p19"/>
            <p:cNvSpPr txBox="1"/>
            <p:nvPr/>
          </p:nvSpPr>
          <p:spPr>
            <a:xfrm>
              <a:off x="238125" y="190500"/>
              <a:ext cx="4857900" cy="1809600"/>
            </a:xfrm>
            <a:prstGeom prst="rect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4285F4"/>
                  </a:solidFill>
                  <a:latin typeface="Calibri"/>
                  <a:ea typeface="Calibri"/>
                  <a:cs typeface="Calibri"/>
                  <a:sym typeface="Calibri"/>
                </a:rPr>
                <a:t>Performance</a:t>
              </a:r>
              <a:endParaRPr b="1" sz="1600">
                <a:solidFill>
                  <a:srgbClr val="4285F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Predicted loss: 39% of actual</a:t>
              </a:r>
              <a:endParaRPr b="1" sz="130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MAE: $573K</a:t>
              </a:r>
              <a:endParaRPr b="1" sz="130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1" lang="en-US" sz="13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RMSE: $3.34M</a:t>
              </a:r>
              <a:endParaRPr b="1" sz="130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20"/>
          <p:cNvSpPr/>
          <p:nvPr/>
        </p:nvSpPr>
        <p:spPr>
          <a:xfrm>
            <a:off x="0" y="0"/>
            <a:ext cx="12191700" cy="1051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0"/>
          <p:cNvSpPr txBox="1"/>
          <p:nvPr/>
        </p:nvSpPr>
        <p:spPr>
          <a:xfrm>
            <a:off x="502920" y="109728"/>
            <a:ext cx="10058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D9C9"/>
                </a:solidFill>
                <a:latin typeface="Calibri"/>
                <a:ea typeface="Calibri"/>
                <a:cs typeface="Calibri"/>
                <a:sym typeface="Calibri"/>
              </a:rPr>
              <a:t>VALIDATION</a:t>
            </a:r>
            <a:endParaRPr/>
          </a:p>
        </p:txBody>
      </p:sp>
      <p:sp>
        <p:nvSpPr>
          <p:cNvPr id="312" name="Google Shape;312;p20"/>
          <p:cNvSpPr txBox="1"/>
          <p:nvPr/>
        </p:nvSpPr>
        <p:spPr>
          <a:xfrm>
            <a:off x="502920" y="384048"/>
            <a:ext cx="109728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Validation — Out-of-Sample &amp; Spatial Dependence</a:t>
            </a:r>
            <a:endParaRPr/>
          </a:p>
        </p:txBody>
      </p:sp>
      <p:grpSp>
        <p:nvGrpSpPr>
          <p:cNvPr id="313" name="Google Shape;313;p20"/>
          <p:cNvGrpSpPr/>
          <p:nvPr/>
        </p:nvGrpSpPr>
        <p:grpSpPr>
          <a:xfrm>
            <a:off x="502925" y="1333500"/>
            <a:ext cx="5697779" cy="3553301"/>
            <a:chOff x="0" y="0"/>
            <a:chExt cx="5334000" cy="2857500"/>
          </a:xfrm>
        </p:grpSpPr>
        <p:sp>
          <p:nvSpPr>
            <p:cNvPr id="314" name="Google Shape;314;p20"/>
            <p:cNvSpPr/>
            <p:nvPr/>
          </p:nvSpPr>
          <p:spPr>
            <a:xfrm>
              <a:off x="0" y="0"/>
              <a:ext cx="5334000" cy="2857500"/>
            </a:xfrm>
            <a:prstGeom prst="roundRect">
              <a:avLst>
                <a:gd fmla="val 2666" name="adj"/>
              </a:avLst>
            </a:prstGeom>
            <a:solidFill>
              <a:srgbClr val="FFFFFF"/>
            </a:solidFill>
            <a:ln cap="flat" cmpd="sng" w="10175">
              <a:solidFill>
                <a:srgbClr val="E0E0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" name="Google Shape;315;p20"/>
            <p:cNvSpPr/>
            <p:nvPr/>
          </p:nvSpPr>
          <p:spPr>
            <a:xfrm>
              <a:off x="0" y="0"/>
              <a:ext cx="57300" cy="28575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6" name="Google Shape;316;p20"/>
            <p:cNvSpPr txBox="1"/>
            <p:nvPr/>
          </p:nvSpPr>
          <p:spPr>
            <a:xfrm>
              <a:off x="238125" y="190500"/>
              <a:ext cx="4857900" cy="247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923">
                  <a:solidFill>
                    <a:srgbClr val="1F4E5F"/>
                  </a:solidFill>
                  <a:latin typeface="Calibri"/>
                  <a:ea typeface="Calibri"/>
                  <a:cs typeface="Calibri"/>
                  <a:sym typeface="Calibri"/>
                </a:rPr>
                <a:t>Leave-One-Event-Out (LOEO)</a:t>
              </a:r>
              <a:endParaRPr b="1" sz="1923">
                <a:solidFill>
                  <a:srgbClr val="1F4E5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202"/>
                </a:spcBef>
                <a:spcAft>
                  <a:spcPts val="0"/>
                </a:spcAft>
                <a:buNone/>
              </a:pPr>
              <a:r>
                <a:t/>
              </a:r>
              <a:endParaRPr b="1" sz="1923">
                <a:solidFill>
                  <a:srgbClr val="1F4E5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202"/>
                </a:spcBef>
                <a:spcAft>
                  <a:spcPts val="0"/>
                </a:spcAft>
                <a:buNone/>
              </a:pPr>
              <a:r>
                <a:t/>
              </a:r>
              <a:endParaRPr b="1" sz="1923">
                <a:solidFill>
                  <a:srgbClr val="1F4E5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202"/>
                </a:spcBef>
                <a:spcAft>
                  <a:spcPts val="0"/>
                </a:spcAft>
                <a:buNone/>
              </a:pPr>
              <a:r>
                <a:t/>
              </a:r>
              <a:endParaRPr b="1" sz="1923">
                <a:solidFill>
                  <a:srgbClr val="1F4E5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202"/>
                </a:spcBef>
                <a:spcAft>
                  <a:spcPts val="0"/>
                </a:spcAft>
                <a:buNone/>
              </a:pPr>
              <a:r>
                <a:rPr b="1" lang="en-US" sz="3418">
                  <a:solidFill>
                    <a:srgbClr val="EA4335"/>
                  </a:solidFill>
                  <a:latin typeface="Calibri"/>
                  <a:ea typeface="Calibri"/>
                  <a:cs typeface="Calibri"/>
                  <a:sym typeface="Calibri"/>
                </a:rPr>
                <a:t>Unreliable</a:t>
              </a:r>
              <a:endParaRPr b="1" sz="3418">
                <a:solidFill>
                  <a:srgbClr val="EA4335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-US" sz="1282">
                  <a:solidFill>
                    <a:srgbClr val="555555"/>
                  </a:solidFill>
                  <a:latin typeface="Calibri"/>
                  <a:ea typeface="Calibri"/>
                  <a:cs typeface="Calibri"/>
                  <a:sym typeface="Calibri"/>
                </a:rPr>
                <a:t>Insufficient sample size</a:t>
              </a:r>
              <a:endParaRPr i="1" sz="1282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202"/>
                </a:spcBef>
                <a:spcAft>
                  <a:spcPts val="0"/>
                </a:spcAft>
                <a:buNone/>
              </a:pPr>
              <a:r>
                <a:rPr b="1" lang="en-US" sz="1495">
                  <a:solidFill>
                    <a:srgbClr val="1A73E8"/>
                  </a:solidFill>
                  <a:latin typeface="Calibri"/>
                  <a:ea typeface="Calibri"/>
                  <a:cs typeface="Calibri"/>
                  <a:sym typeface="Calibri"/>
                </a:rPr>
                <a:t>▪</a:t>
              </a:r>
              <a:r>
                <a:rPr b="0" lang="en-US" sz="1495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 Two wildfire events are entirely insufficient for a trustworthy, robust out-of-sample validation of the model.</a:t>
              </a:r>
              <a:endParaRPr b="0" sz="1495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7" name="Google Shape;317;p20"/>
          <p:cNvGrpSpPr/>
          <p:nvPr/>
        </p:nvGrpSpPr>
        <p:grpSpPr>
          <a:xfrm>
            <a:off x="6355075" y="1333500"/>
            <a:ext cx="5334000" cy="3553301"/>
            <a:chOff x="0" y="0"/>
            <a:chExt cx="5334000" cy="2857500"/>
          </a:xfrm>
        </p:grpSpPr>
        <p:sp>
          <p:nvSpPr>
            <p:cNvPr id="318" name="Google Shape;318;p20"/>
            <p:cNvSpPr/>
            <p:nvPr/>
          </p:nvSpPr>
          <p:spPr>
            <a:xfrm>
              <a:off x="0" y="0"/>
              <a:ext cx="5334000" cy="2857500"/>
            </a:xfrm>
            <a:prstGeom prst="roundRect">
              <a:avLst>
                <a:gd fmla="val 2666" name="adj"/>
              </a:avLst>
            </a:prstGeom>
            <a:solidFill>
              <a:srgbClr val="FFFFFF"/>
            </a:solidFill>
            <a:ln cap="flat" cmpd="sng" w="9525">
              <a:solidFill>
                <a:srgbClr val="E0E0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" name="Google Shape;319;p20"/>
            <p:cNvSpPr/>
            <p:nvPr/>
          </p:nvSpPr>
          <p:spPr>
            <a:xfrm>
              <a:off x="0" y="0"/>
              <a:ext cx="57300" cy="2857500"/>
            </a:xfrm>
            <a:prstGeom prst="roundRect">
              <a:avLst>
                <a:gd fmla="val 50000" name="adj"/>
              </a:avLst>
            </a:prstGeom>
            <a:solidFill>
              <a:srgbClr val="1F4E5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" name="Google Shape;320;p20"/>
            <p:cNvSpPr txBox="1"/>
            <p:nvPr/>
          </p:nvSpPr>
          <p:spPr>
            <a:xfrm>
              <a:off x="238125" y="190500"/>
              <a:ext cx="4857900" cy="247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F4E5F"/>
                  </a:solidFill>
                  <a:latin typeface="Calibri"/>
                  <a:ea typeface="Calibri"/>
                  <a:cs typeface="Calibri"/>
                  <a:sym typeface="Calibri"/>
                </a:rPr>
                <a:t>Spatial Dependence (GEE)</a:t>
              </a:r>
              <a:endParaRPr b="1" sz="1800">
                <a:solidFill>
                  <a:srgbClr val="1F4E5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4000">
                  <a:solidFill>
                    <a:srgbClr val="B32B1E"/>
                  </a:solidFill>
                  <a:latin typeface="Calibri"/>
                  <a:ea typeface="Calibri"/>
                  <a:cs typeface="Calibri"/>
                  <a:sym typeface="Calibri"/>
                </a:rPr>
                <a:t>≈ 0</a:t>
              </a:r>
              <a:endParaRPr b="1" sz="4000">
                <a:solidFill>
                  <a:srgbClr val="B32B1E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-US" sz="1200">
                  <a:solidFill>
                    <a:srgbClr val="555555"/>
                  </a:solidFill>
                  <a:latin typeface="Calibri"/>
                  <a:ea typeface="Calibri"/>
                  <a:cs typeface="Calibri"/>
                  <a:sym typeface="Calibri"/>
                </a:rPr>
                <a:t>(-0.008) estimated within-event correlation</a:t>
              </a:r>
              <a:endParaRPr i="1" sz="120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1F4E5F"/>
                  </a:solidFill>
                  <a:latin typeface="Calibri"/>
                  <a:ea typeface="Calibri"/>
                  <a:cs typeface="Calibri"/>
                  <a:sym typeface="Calibri"/>
                </a:rPr>
                <a:t>▪</a:t>
              </a:r>
              <a:r>
                <a:rPr b="0" lang="en-US" sz="14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 Not a precise estimate. With only 2 clusters, this metric cannot reliably demonstrate whether spatial dependence exists.</a:t>
              </a:r>
              <a:endParaRPr b="0" sz="140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1" name="Google Shape;321;p20"/>
          <p:cNvGrpSpPr/>
          <p:nvPr/>
        </p:nvGrpSpPr>
        <p:grpSpPr>
          <a:xfrm>
            <a:off x="502795" y="5022300"/>
            <a:ext cx="11186100" cy="1428900"/>
            <a:chOff x="0" y="0"/>
            <a:chExt cx="11186100" cy="1428900"/>
          </a:xfrm>
        </p:grpSpPr>
        <p:sp>
          <p:nvSpPr>
            <p:cNvPr id="322" name="Google Shape;322;p20"/>
            <p:cNvSpPr/>
            <p:nvPr/>
          </p:nvSpPr>
          <p:spPr>
            <a:xfrm>
              <a:off x="0" y="0"/>
              <a:ext cx="11186100" cy="1428900"/>
            </a:xfrm>
            <a:prstGeom prst="roundRect">
              <a:avLst>
                <a:gd fmla="val 5333" name="adj"/>
              </a:avLst>
            </a:prstGeom>
            <a:solidFill>
              <a:srgbClr val="F2EFEA"/>
            </a:solidFill>
            <a:ln cap="flat" cmpd="sng" w="9525">
              <a:solidFill>
                <a:srgbClr val="E0E0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" name="Google Shape;323;p20"/>
            <p:cNvSpPr/>
            <p:nvPr/>
          </p:nvSpPr>
          <p:spPr>
            <a:xfrm>
              <a:off x="0" y="0"/>
              <a:ext cx="76200" cy="1428900"/>
            </a:xfrm>
            <a:prstGeom prst="roundRect">
              <a:avLst>
                <a:gd fmla="val 50000" name="adj"/>
              </a:avLst>
            </a:prstGeom>
            <a:solidFill>
              <a:srgbClr val="B32B1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" name="Google Shape;324;p20"/>
            <p:cNvSpPr txBox="1"/>
            <p:nvPr/>
          </p:nvSpPr>
          <p:spPr>
            <a:xfrm>
              <a:off x="285750" y="190500"/>
              <a:ext cx="106146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B32B1E"/>
                  </a:solidFill>
                  <a:latin typeface="Calibri"/>
                  <a:ea typeface="Calibri"/>
                  <a:cs typeface="Calibri"/>
                  <a:sym typeface="Calibri"/>
                </a:rPr>
                <a:t>Bottom Line:</a:t>
              </a:r>
              <a:endParaRPr b="1" sz="1500">
                <a:solidFill>
                  <a:srgbClr val="B32B1E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With only two wildfire events, neither out-of-sample performance nor spatial dependence can be estimated reliably. This is not evidence that either is absent, but rather that the currently available data cannot yet answer the question.</a:t>
              </a:r>
              <a:endParaRPr b="0" sz="140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5" name="Google Shape;325;p20"/>
          <p:cNvSpPr txBox="1"/>
          <p:nvPr/>
        </p:nvSpPr>
        <p:spPr>
          <a:xfrm>
            <a:off x="502920" y="6528816"/>
            <a:ext cx="7315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Wildfire Insured-Loss Modelling — Alberta Portfolio</a:t>
            </a:r>
            <a:endParaRPr/>
          </a:p>
        </p:txBody>
      </p:sp>
      <p:sp>
        <p:nvSpPr>
          <p:cNvPr id="326" name="Google Shape;326;p20"/>
          <p:cNvSpPr txBox="1"/>
          <p:nvPr/>
        </p:nvSpPr>
        <p:spPr>
          <a:xfrm>
            <a:off x="11338560" y="6528816"/>
            <a:ext cx="457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  <p:graphicFrame>
        <p:nvGraphicFramePr>
          <p:cNvPr id="327" name="Google Shape;327;p20"/>
          <p:cNvGraphicFramePr/>
          <p:nvPr/>
        </p:nvGraphicFramePr>
        <p:xfrm>
          <a:off x="714295" y="203221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{0F9D47A9-538D-4638-8B40-FF44D98C4D9C}</a:tableStyleId>
              </a:tblPr>
              <a:tblGrid>
                <a:gridCol w="2041050"/>
                <a:gridCol w="930275"/>
                <a:gridCol w="941400"/>
                <a:gridCol w="1139450"/>
              </a:tblGrid>
              <a:tr h="3962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Train → Test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Predicted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Actual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Rank corr.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chemeClr val="accent1"/>
                    </a:solidFill>
                  </a:tcPr>
                </a:tc>
              </a:tr>
              <a:tr h="3962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May 2016 → Jul/Aug 2024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$186K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$23.7M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≈0 (0.068)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</a:tr>
              <a:tr h="3962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Jul/Aug 2024 → May 2016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$189.9M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$83.2M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0.297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1"/>
          <p:cNvSpPr/>
          <p:nvPr/>
        </p:nvSpPr>
        <p:spPr>
          <a:xfrm>
            <a:off x="0" y="0"/>
            <a:ext cx="12191700" cy="1051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21"/>
          <p:cNvSpPr txBox="1"/>
          <p:nvPr/>
        </p:nvSpPr>
        <p:spPr>
          <a:xfrm>
            <a:off x="502920" y="109728"/>
            <a:ext cx="10058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D9C9"/>
                </a:solidFill>
                <a:latin typeface="Calibri"/>
                <a:ea typeface="Calibri"/>
                <a:cs typeface="Calibri"/>
                <a:sym typeface="Calibri"/>
              </a:rPr>
              <a:t>SSP1-2.6, 2045–2050 VS. 2015–2025</a:t>
            </a:r>
            <a:endParaRPr/>
          </a:p>
        </p:txBody>
      </p:sp>
      <p:sp>
        <p:nvSpPr>
          <p:cNvPr id="334" name="Google Shape;334;p21"/>
          <p:cNvSpPr txBox="1"/>
          <p:nvPr/>
        </p:nvSpPr>
        <p:spPr>
          <a:xfrm>
            <a:off x="502920" y="384048"/>
            <a:ext cx="109728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Future Climate Projection (Illustrative)</a:t>
            </a:r>
            <a:endParaRPr/>
          </a:p>
        </p:txBody>
      </p:sp>
      <p:grpSp>
        <p:nvGrpSpPr>
          <p:cNvPr id="335" name="Google Shape;335;p21"/>
          <p:cNvGrpSpPr/>
          <p:nvPr/>
        </p:nvGrpSpPr>
        <p:grpSpPr>
          <a:xfrm>
            <a:off x="6425075" y="1334100"/>
            <a:ext cx="5496000" cy="4543500"/>
            <a:chOff x="6191250" y="1333500"/>
            <a:chExt cx="5496000" cy="4543500"/>
          </a:xfrm>
        </p:grpSpPr>
        <p:sp>
          <p:nvSpPr>
            <p:cNvPr id="336" name="Google Shape;336;p21"/>
            <p:cNvSpPr/>
            <p:nvPr/>
          </p:nvSpPr>
          <p:spPr>
            <a:xfrm>
              <a:off x="6191250" y="1333500"/>
              <a:ext cx="5496000" cy="4543500"/>
            </a:xfrm>
            <a:prstGeom prst="roundRect">
              <a:avLst>
                <a:gd fmla="val 1677" name="adj"/>
              </a:avLst>
            </a:prstGeom>
            <a:solidFill>
              <a:srgbClr val="FFFFFF"/>
            </a:solidFill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" name="Google Shape;337;p21"/>
            <p:cNvSpPr txBox="1"/>
            <p:nvPr/>
          </p:nvSpPr>
          <p:spPr>
            <a:xfrm>
              <a:off x="6381750" y="1524000"/>
              <a:ext cx="5115000" cy="476400"/>
            </a:xfrm>
            <a:prstGeom prst="rect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1F4E5F"/>
                  </a:solidFill>
                  <a:latin typeface="Calibri"/>
                  <a:ea typeface="Calibri"/>
                  <a:cs typeface="Calibri"/>
                  <a:sym typeface="Calibri"/>
                </a:rPr>
                <a:t>Illustrative Projected Portfolio Loss by FSA</a:t>
              </a:r>
              <a:endParaRPr b="1" sz="1500">
                <a:solidFill>
                  <a:srgbClr val="1F4E5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ctr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555555"/>
                  </a:solidFill>
                  <a:latin typeface="Calibri"/>
                  <a:ea typeface="Calibri"/>
                  <a:cs typeface="Calibri"/>
                  <a:sym typeface="Calibri"/>
                </a:rPr>
                <a:t>Historical, future, and % change (SSP1-2.6)</a:t>
              </a:r>
              <a:endParaRPr b="0" sz="110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8" name="Google Shape;338;p21"/>
            <p:cNvSpPr txBox="1"/>
            <p:nvPr/>
          </p:nvSpPr>
          <p:spPr>
            <a:xfrm>
              <a:off x="6381750" y="4714875"/>
              <a:ext cx="5115000" cy="1047900"/>
            </a:xfrm>
            <a:prstGeom prst="rect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1" lang="en-US" sz="105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Percentile ranks are shown rather than dollar values to facilitate visual comparison across periods despite the highly skewed distribution of projected losses.</a:t>
              </a:r>
              <a:endParaRPr b="0" i="1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9" name="Google Shape;339;p21"/>
          <p:cNvGrpSpPr/>
          <p:nvPr/>
        </p:nvGrpSpPr>
        <p:grpSpPr>
          <a:xfrm>
            <a:off x="294496" y="1394829"/>
            <a:ext cx="5878954" cy="3477537"/>
            <a:chOff x="502920" y="1333500"/>
            <a:chExt cx="5429400" cy="4543425"/>
          </a:xfrm>
        </p:grpSpPr>
        <p:grpSp>
          <p:nvGrpSpPr>
            <p:cNvPr id="340" name="Google Shape;340;p21"/>
            <p:cNvGrpSpPr/>
            <p:nvPr/>
          </p:nvGrpSpPr>
          <p:grpSpPr>
            <a:xfrm>
              <a:off x="502920" y="1333500"/>
              <a:ext cx="5429400" cy="1028700"/>
              <a:chOff x="0" y="0"/>
              <a:chExt cx="5429400" cy="1028700"/>
            </a:xfrm>
          </p:grpSpPr>
          <p:sp>
            <p:nvSpPr>
              <p:cNvPr id="341" name="Google Shape;341;p21"/>
              <p:cNvSpPr/>
              <p:nvPr/>
            </p:nvSpPr>
            <p:spPr>
              <a:xfrm>
                <a:off x="0" y="0"/>
                <a:ext cx="5429400" cy="1028700"/>
              </a:xfrm>
              <a:prstGeom prst="roundRect">
                <a:avLst>
                  <a:gd fmla="val 5555" name="adj"/>
                </a:avLst>
              </a:prstGeom>
              <a:solidFill>
                <a:srgbClr val="FFFFFF"/>
              </a:solidFill>
              <a:ln cap="flat" cmpd="sng" w="7625">
                <a:solidFill>
                  <a:srgbClr val="E0E0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2" name="Google Shape;342;p21"/>
              <p:cNvSpPr/>
              <p:nvPr/>
            </p:nvSpPr>
            <p:spPr>
              <a:xfrm>
                <a:off x="0" y="0"/>
                <a:ext cx="57300" cy="1028700"/>
              </a:xfrm>
              <a:prstGeom prst="roundRect">
                <a:avLst>
                  <a:gd fmla="val 50000" name="adj"/>
                </a:avLst>
              </a:prstGeom>
              <a:solidFill>
                <a:srgbClr val="4285F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3" name="Google Shape;343;p21"/>
              <p:cNvSpPr txBox="1"/>
              <p:nvPr/>
            </p:nvSpPr>
            <p:spPr>
              <a:xfrm>
                <a:off x="190500" y="114300"/>
                <a:ext cx="5048400" cy="800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081">
                    <a:solidFill>
                      <a:srgbClr val="2A2A2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Labelled “illustrative,” not “predicted”</a:t>
                </a:r>
                <a:endParaRPr b="1" sz="1081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24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Model trained on event-window extremes; future comparison uses period-average inputs — a feature-scale mismatch that pushes it outside training distribution.</a:t>
                </a:r>
                <a:endParaRPr b="0" sz="11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44" name="Google Shape;344;p21"/>
            <p:cNvGrpSpPr/>
            <p:nvPr/>
          </p:nvGrpSpPr>
          <p:grpSpPr>
            <a:xfrm>
              <a:off x="502920" y="2505075"/>
              <a:ext cx="5429400" cy="1028700"/>
              <a:chOff x="0" y="0"/>
              <a:chExt cx="5429400" cy="1028700"/>
            </a:xfrm>
          </p:grpSpPr>
          <p:sp>
            <p:nvSpPr>
              <p:cNvPr id="345" name="Google Shape;345;p21"/>
              <p:cNvSpPr/>
              <p:nvPr/>
            </p:nvSpPr>
            <p:spPr>
              <a:xfrm>
                <a:off x="0" y="0"/>
                <a:ext cx="5429400" cy="1028700"/>
              </a:xfrm>
              <a:prstGeom prst="roundRect">
                <a:avLst>
                  <a:gd fmla="val 5555" name="adj"/>
                </a:avLst>
              </a:prstGeom>
              <a:solidFill>
                <a:srgbClr val="FFFFFF"/>
              </a:solidFill>
              <a:ln cap="flat" cmpd="sng" w="7625">
                <a:solidFill>
                  <a:srgbClr val="E0E0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6" name="Google Shape;346;p21"/>
              <p:cNvSpPr/>
              <p:nvPr/>
            </p:nvSpPr>
            <p:spPr>
              <a:xfrm>
                <a:off x="0" y="0"/>
                <a:ext cx="57300" cy="1028700"/>
              </a:xfrm>
              <a:prstGeom prst="roundRect">
                <a:avLst>
                  <a:gd fmla="val 50000" name="adj"/>
                </a:avLst>
              </a:prstGeom>
              <a:solidFill>
                <a:srgbClr val="4285F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7" name="Google Shape;347;p21"/>
              <p:cNvSpPr txBox="1"/>
              <p:nvPr/>
            </p:nvSpPr>
            <p:spPr>
              <a:xfrm>
                <a:off x="190500" y="114300"/>
                <a:ext cx="5048400" cy="800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081">
                    <a:solidFill>
                      <a:srgbClr val="2A2A2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No prediction interval reported</a:t>
                </a:r>
                <a:endParaRPr b="1" sz="1081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24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Parameter uncertainty from only 2 historical wildfire events would make any prediction interval itself highly unstable and unreliable.</a:t>
                </a:r>
                <a:endParaRPr b="0" sz="11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48" name="Google Shape;348;p21"/>
            <p:cNvGrpSpPr/>
            <p:nvPr/>
          </p:nvGrpSpPr>
          <p:grpSpPr>
            <a:xfrm>
              <a:off x="502920" y="3676650"/>
              <a:ext cx="5429400" cy="1028700"/>
              <a:chOff x="0" y="0"/>
              <a:chExt cx="5429400" cy="1028700"/>
            </a:xfrm>
          </p:grpSpPr>
          <p:sp>
            <p:nvSpPr>
              <p:cNvPr id="349" name="Google Shape;349;p21"/>
              <p:cNvSpPr/>
              <p:nvPr/>
            </p:nvSpPr>
            <p:spPr>
              <a:xfrm>
                <a:off x="0" y="0"/>
                <a:ext cx="5429400" cy="1028700"/>
              </a:xfrm>
              <a:prstGeom prst="roundRect">
                <a:avLst>
                  <a:gd fmla="val 5555" name="adj"/>
                </a:avLst>
              </a:prstGeom>
              <a:solidFill>
                <a:srgbClr val="FFFFFF"/>
              </a:solidFill>
              <a:ln cap="flat" cmpd="sng" w="7625">
                <a:solidFill>
                  <a:srgbClr val="E0E0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0" name="Google Shape;350;p21"/>
              <p:cNvSpPr/>
              <p:nvPr/>
            </p:nvSpPr>
            <p:spPr>
              <a:xfrm>
                <a:off x="0" y="0"/>
                <a:ext cx="57300" cy="1028700"/>
              </a:xfrm>
              <a:prstGeom prst="roundRect">
                <a:avLst>
                  <a:gd fmla="val 50000" name="adj"/>
                </a:avLst>
              </a:prstGeom>
              <a:solidFill>
                <a:srgbClr val="4285F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1" name="Google Shape;351;p21"/>
              <p:cNvSpPr txBox="1"/>
              <p:nvPr/>
            </p:nvSpPr>
            <p:spPr>
              <a:xfrm>
                <a:off x="190500" y="114300"/>
                <a:ext cx="5048400" cy="800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081">
                    <a:solidFill>
                      <a:srgbClr val="2A2A2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Single model, scenario, &amp; ensemble member</a:t>
                </a:r>
                <a:endParaRPr b="1" sz="1081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24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A narrow projection pathway, whereas other CMIP6 climate models often project overall increasing fire-weather risk for similar geographic regions.</a:t>
                </a:r>
                <a:endParaRPr b="0" sz="11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52" name="Google Shape;352;p21"/>
            <p:cNvGrpSpPr/>
            <p:nvPr/>
          </p:nvGrpSpPr>
          <p:grpSpPr>
            <a:xfrm>
              <a:off x="502920" y="4848225"/>
              <a:ext cx="5429400" cy="1028700"/>
              <a:chOff x="0" y="0"/>
              <a:chExt cx="5429400" cy="1028700"/>
            </a:xfrm>
          </p:grpSpPr>
          <p:sp>
            <p:nvSpPr>
              <p:cNvPr id="353" name="Google Shape;353;p21"/>
              <p:cNvSpPr/>
              <p:nvPr/>
            </p:nvSpPr>
            <p:spPr>
              <a:xfrm>
                <a:off x="0" y="0"/>
                <a:ext cx="5429400" cy="1028700"/>
              </a:xfrm>
              <a:prstGeom prst="roundRect">
                <a:avLst>
                  <a:gd fmla="val 5555" name="adj"/>
                </a:avLst>
              </a:prstGeom>
              <a:solidFill>
                <a:srgbClr val="FFFFFF"/>
              </a:solidFill>
              <a:ln cap="flat" cmpd="sng" w="7625">
                <a:solidFill>
                  <a:srgbClr val="E0E0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4" name="Google Shape;354;p21"/>
              <p:cNvSpPr/>
              <p:nvPr/>
            </p:nvSpPr>
            <p:spPr>
              <a:xfrm>
                <a:off x="0" y="0"/>
                <a:ext cx="57300" cy="1028700"/>
              </a:xfrm>
              <a:prstGeom prst="roundRect">
                <a:avLst>
                  <a:gd fmla="val 50000" name="adj"/>
                </a:avLst>
              </a:prstGeom>
              <a:solidFill>
                <a:srgbClr val="4285F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5" name="Google Shape;355;p21"/>
              <p:cNvSpPr txBox="1"/>
              <p:nvPr/>
            </p:nvSpPr>
            <p:spPr>
              <a:xfrm>
                <a:off x="190500" y="114300"/>
                <a:ext cx="5048400" cy="800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081">
                    <a:solidFill>
                      <a:srgbClr val="2A2A2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Frequency/loss rise despite FWI falling</a:t>
                </a:r>
                <a:endParaRPr b="1" sz="1081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24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Driven by a negative dc_max coefficient learned from only 2 events — which is plausibly a statistical artifact rather than a stable physical relationship.</a:t>
                </a:r>
                <a:endParaRPr b="0" sz="11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pic>
        <p:nvPicPr>
          <p:cNvPr descr="alberta_expected_loss_by_fsa_choropleth.png" id="356" name="Google Shape;35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44163" y="2227250"/>
            <a:ext cx="5257800" cy="228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21"/>
          <p:cNvSpPr txBox="1"/>
          <p:nvPr/>
        </p:nvSpPr>
        <p:spPr>
          <a:xfrm>
            <a:off x="502920" y="6528816"/>
            <a:ext cx="7315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Wildfire Insured-Loss Modelling — Alberta Portfolio</a:t>
            </a:r>
            <a:endParaRPr/>
          </a:p>
        </p:txBody>
      </p:sp>
      <p:sp>
        <p:nvSpPr>
          <p:cNvPr id="358" name="Google Shape;358;p21"/>
          <p:cNvSpPr txBox="1"/>
          <p:nvPr/>
        </p:nvSpPr>
        <p:spPr>
          <a:xfrm>
            <a:off x="11338560" y="6528816"/>
            <a:ext cx="457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  <p:graphicFrame>
        <p:nvGraphicFramePr>
          <p:cNvPr id="359" name="Google Shape;359;p21"/>
          <p:cNvGraphicFramePr/>
          <p:nvPr/>
        </p:nvGraphicFramePr>
        <p:xfrm>
          <a:off x="294470" y="498431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{A319AEB0-B2B3-4B9F-96CE-301683A25E68}</a:tableStyleId>
              </a:tblPr>
              <a:tblGrid>
                <a:gridCol w="1959675"/>
                <a:gridCol w="1493025"/>
                <a:gridCol w="1679725"/>
                <a:gridCol w="746525"/>
              </a:tblGrid>
              <a:tr h="418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Metric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Historical (2015–2025)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Future SSP1-2.6 (2045–2050)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Rel. diff.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chemeClr val="accent1"/>
                    </a:solidFill>
                  </a:tcPr>
                </a:tc>
              </a:tr>
              <a:tr h="237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Mean FWI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3.47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1.36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−61%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</a:tr>
              <a:tr h="237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Mean DC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203.6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148.7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−27%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</a:tr>
              <a:tr h="3019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Illustrative claim frequency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1,870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3,862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+107%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</a:tr>
              <a:tr h="237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Illustrative projected loss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$4.5M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$7.65M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>
                          <a:solidFill>
                            <a:srgbClr val="2A2A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+70%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C9DA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2"/>
          <p:cNvSpPr/>
          <p:nvPr/>
        </p:nvSpPr>
        <p:spPr>
          <a:xfrm>
            <a:off x="0" y="0"/>
            <a:ext cx="12191700" cy="1051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2"/>
          <p:cNvSpPr txBox="1"/>
          <p:nvPr/>
        </p:nvSpPr>
        <p:spPr>
          <a:xfrm>
            <a:off x="502920" y="109728"/>
            <a:ext cx="10058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D9C9"/>
                </a:solidFill>
                <a:latin typeface="Calibri"/>
                <a:ea typeface="Calibri"/>
                <a:cs typeface="Calibri"/>
                <a:sym typeface="Calibri"/>
              </a:rPr>
              <a:t>DISCUSSION</a:t>
            </a:r>
            <a:endParaRPr/>
          </a:p>
        </p:txBody>
      </p:sp>
      <p:sp>
        <p:nvSpPr>
          <p:cNvPr id="366" name="Google Shape;366;p22"/>
          <p:cNvSpPr txBox="1"/>
          <p:nvPr/>
        </p:nvSpPr>
        <p:spPr>
          <a:xfrm>
            <a:off x="502920" y="384048"/>
            <a:ext cx="109728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Limitations, Next Steps</a:t>
            </a:r>
            <a:endParaRPr/>
          </a:p>
        </p:txBody>
      </p:sp>
      <p:grpSp>
        <p:nvGrpSpPr>
          <p:cNvPr id="367" name="Google Shape;367;p22"/>
          <p:cNvGrpSpPr/>
          <p:nvPr/>
        </p:nvGrpSpPr>
        <p:grpSpPr>
          <a:xfrm>
            <a:off x="502920" y="1285875"/>
            <a:ext cx="5334000" cy="3714900"/>
            <a:chOff x="0" y="0"/>
            <a:chExt cx="5334000" cy="3714900"/>
          </a:xfrm>
        </p:grpSpPr>
        <p:sp>
          <p:nvSpPr>
            <p:cNvPr id="368" name="Google Shape;368;p22"/>
            <p:cNvSpPr/>
            <p:nvPr/>
          </p:nvSpPr>
          <p:spPr>
            <a:xfrm>
              <a:off x="0" y="0"/>
              <a:ext cx="5334000" cy="3714900"/>
            </a:xfrm>
            <a:prstGeom prst="roundRect">
              <a:avLst>
                <a:gd fmla="val 1538" name="adj"/>
              </a:avLst>
            </a:prstGeom>
            <a:solidFill>
              <a:srgbClr val="FFFFFF"/>
            </a:solidFill>
            <a:ln cap="flat" cmpd="sng" w="9525">
              <a:solidFill>
                <a:srgbClr val="E0E0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" name="Google Shape;369;p22"/>
            <p:cNvSpPr/>
            <p:nvPr/>
          </p:nvSpPr>
          <p:spPr>
            <a:xfrm>
              <a:off x="0" y="0"/>
              <a:ext cx="57300" cy="3714900"/>
            </a:xfrm>
            <a:prstGeom prst="roundRect">
              <a:avLst>
                <a:gd fmla="val 50000" name="adj"/>
              </a:avLst>
            </a:prstGeom>
            <a:solidFill>
              <a:srgbClr val="B32B1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" name="Google Shape;370;p22"/>
            <p:cNvSpPr txBox="1"/>
            <p:nvPr/>
          </p:nvSpPr>
          <p:spPr>
            <a:xfrm>
              <a:off x="238125" y="190500"/>
              <a:ext cx="4857900" cy="333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B32B1E"/>
                  </a:solidFill>
                  <a:latin typeface="Calibri"/>
                  <a:ea typeface="Calibri"/>
                  <a:cs typeface="Calibri"/>
                  <a:sym typeface="Calibri"/>
                </a:rPr>
                <a:t>Key limitations:</a:t>
              </a:r>
              <a:endParaRPr b="1" sz="1600">
                <a:solidFill>
                  <a:srgbClr val="B32B1E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250">
                  <a:solidFill>
                    <a:srgbClr val="B32B1E"/>
                  </a:solidFill>
                  <a:latin typeface="Calibri"/>
                  <a:ea typeface="Calibri"/>
                  <a:cs typeface="Calibri"/>
                  <a:sym typeface="Calibri"/>
                </a:rPr>
                <a:t>▪ Only 2 historical events.</a:t>
              </a:r>
              <a:r>
                <a:rPr lang="en-US" sz="12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 Thin basis for frequency/severity or tail-risk estimation.</a:t>
              </a:r>
              <a:endParaRPr sz="12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250">
                  <a:solidFill>
                    <a:srgbClr val="B32B1E"/>
                  </a:solidFill>
                  <a:latin typeface="Calibri"/>
                  <a:ea typeface="Calibri"/>
                  <a:cs typeface="Calibri"/>
                  <a:sym typeface="Calibri"/>
                </a:rPr>
                <a:t>▪ Poor out-of-sample generalization.</a:t>
              </a:r>
              <a:r>
                <a:rPr lang="en-US" sz="12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 LOEO failed to converge in both directions.</a:t>
              </a:r>
              <a:endParaRPr sz="12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250">
                  <a:solidFill>
                    <a:srgbClr val="B32B1E"/>
                  </a:solidFill>
                  <a:latin typeface="Calibri"/>
                  <a:ea typeface="Calibri"/>
                  <a:cs typeface="Calibri"/>
                  <a:sym typeface="Calibri"/>
                </a:rPr>
                <a:t>▪ Spatial dependence imprecisely estimated.</a:t>
              </a:r>
              <a:r>
                <a:rPr lang="en-US" sz="12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 Only 2 clusters.</a:t>
              </a:r>
              <a:endParaRPr sz="12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250">
                  <a:solidFill>
                    <a:srgbClr val="B32B1E"/>
                  </a:solidFill>
                  <a:latin typeface="Calibri"/>
                  <a:ea typeface="Calibri"/>
                  <a:cs typeface="Calibri"/>
                  <a:sym typeface="Calibri"/>
                </a:rPr>
                <a:t>▪ Open data gaps.</a:t>
              </a:r>
              <a:r>
                <a:rPr lang="en-US" sz="12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 24% of claims lack FWI signal; T3T/T4K boundary gap; fuel codes unlabelled.</a:t>
              </a:r>
              <a:endParaRPr sz="12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250">
                  <a:solidFill>
                    <a:srgbClr val="B32B1E"/>
                  </a:solidFill>
                  <a:latin typeface="Calibri"/>
                  <a:ea typeface="Calibri"/>
                  <a:cs typeface="Calibri"/>
                  <a:sym typeface="Calibri"/>
                </a:rPr>
                <a:t>▪ Single climate pathway.</a:t>
              </a:r>
              <a:r>
                <a:rPr lang="en-US" sz="12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 One model, one scenario, one ensemble member.</a:t>
              </a:r>
              <a:endParaRPr sz="12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1" name="Google Shape;371;p22"/>
          <p:cNvGrpSpPr/>
          <p:nvPr/>
        </p:nvGrpSpPr>
        <p:grpSpPr>
          <a:xfrm>
            <a:off x="6355080" y="1285875"/>
            <a:ext cx="5334000" cy="3714900"/>
            <a:chOff x="0" y="0"/>
            <a:chExt cx="5334000" cy="3714900"/>
          </a:xfrm>
        </p:grpSpPr>
        <p:sp>
          <p:nvSpPr>
            <p:cNvPr id="372" name="Google Shape;372;p22"/>
            <p:cNvSpPr/>
            <p:nvPr/>
          </p:nvSpPr>
          <p:spPr>
            <a:xfrm>
              <a:off x="0" y="0"/>
              <a:ext cx="5334000" cy="3714900"/>
            </a:xfrm>
            <a:prstGeom prst="roundRect">
              <a:avLst>
                <a:gd fmla="val 1538" name="adj"/>
              </a:avLst>
            </a:prstGeom>
            <a:solidFill>
              <a:srgbClr val="FFFFFF"/>
            </a:solidFill>
            <a:ln cap="flat" cmpd="sng" w="9525">
              <a:solidFill>
                <a:srgbClr val="E0E0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" name="Google Shape;373;p22"/>
            <p:cNvSpPr/>
            <p:nvPr/>
          </p:nvSpPr>
          <p:spPr>
            <a:xfrm>
              <a:off x="0" y="0"/>
              <a:ext cx="57300" cy="37149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" name="Google Shape;374;p22"/>
            <p:cNvSpPr txBox="1"/>
            <p:nvPr/>
          </p:nvSpPr>
          <p:spPr>
            <a:xfrm>
              <a:off x="238125" y="190500"/>
              <a:ext cx="4857900" cy="333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1F4E5F"/>
                  </a:solidFill>
                  <a:latin typeface="Calibri"/>
                  <a:ea typeface="Calibri"/>
                  <a:cs typeface="Calibri"/>
                  <a:sym typeface="Calibri"/>
                </a:rPr>
                <a:t>Next steps (by business value):</a:t>
              </a:r>
              <a:endParaRPr b="1" sz="1600">
                <a:solidFill>
                  <a:srgbClr val="1F4E5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250">
                  <a:solidFill>
                    <a:srgbClr val="4285F4"/>
                  </a:solidFill>
                  <a:latin typeface="Calibri"/>
                  <a:ea typeface="Calibri"/>
                  <a:cs typeface="Calibri"/>
                  <a:sym typeface="Calibri"/>
                </a:rPr>
                <a:t>1. More historical events.</a:t>
              </a:r>
              <a:r>
                <a:rPr lang="en-US" sz="12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 The single highest-value addition.</a:t>
              </a:r>
              <a:endParaRPr sz="12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250">
                  <a:solidFill>
                    <a:srgbClr val="4285F4"/>
                  </a:solidFill>
                  <a:latin typeface="Calibri"/>
                  <a:ea typeface="Calibri"/>
                  <a:cs typeface="Calibri"/>
                  <a:sym typeface="Calibri"/>
                </a:rPr>
                <a:t>2. Monte Carlo simulation.</a:t>
              </a:r>
              <a:r>
                <a:rPr lang="en-US" sz="12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 Real prediction intervals once enough events exist.</a:t>
              </a:r>
              <a:endParaRPr sz="12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250">
                  <a:solidFill>
                    <a:srgbClr val="4285F4"/>
                  </a:solidFill>
                  <a:latin typeface="Calibri"/>
                  <a:ea typeface="Calibri"/>
                  <a:cs typeface="Calibri"/>
                  <a:sym typeface="Calibri"/>
                </a:rPr>
                <a:t>3. Multi-model climate ensemble.</a:t>
              </a:r>
              <a:r>
                <a:rPr lang="en-US" sz="12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 Beyond one model/scenario/member.</a:t>
              </a:r>
              <a:endParaRPr sz="12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250">
                  <a:solidFill>
                    <a:srgbClr val="4285F4"/>
                  </a:solidFill>
                  <a:latin typeface="Calibri"/>
                  <a:ea typeface="Calibri"/>
                  <a:cs typeface="Calibri"/>
                  <a:sym typeface="Calibri"/>
                </a:rPr>
                <a:t>4. Resolve remaining data gaps.</a:t>
              </a:r>
              <a:r>
                <a:rPr lang="en-US" sz="12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 FWI coverage, boundary gap, fuel legend.</a:t>
              </a:r>
              <a:endParaRPr sz="12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250">
                  <a:solidFill>
                    <a:srgbClr val="4285F4"/>
                  </a:solidFill>
                  <a:latin typeface="Calibri"/>
                  <a:ea typeface="Calibri"/>
                  <a:cs typeface="Calibri"/>
                  <a:sym typeface="Calibri"/>
                </a:rPr>
                <a:t>5. Alternative severity predictors.</a:t>
              </a:r>
              <a:r>
                <a:rPr lang="en-US" sz="12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 An exposure-oriented set, not climate-only.</a:t>
              </a:r>
              <a:endParaRPr sz="12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5" name="Google Shape;375;p22"/>
          <p:cNvGrpSpPr/>
          <p:nvPr/>
        </p:nvGrpSpPr>
        <p:grpSpPr>
          <a:xfrm>
            <a:off x="502920" y="5191125"/>
            <a:ext cx="11186100" cy="1095300"/>
            <a:chOff x="0" y="0"/>
            <a:chExt cx="11186100" cy="1095300"/>
          </a:xfrm>
        </p:grpSpPr>
        <p:sp>
          <p:nvSpPr>
            <p:cNvPr id="376" name="Google Shape;376;p22"/>
            <p:cNvSpPr/>
            <p:nvPr/>
          </p:nvSpPr>
          <p:spPr>
            <a:xfrm>
              <a:off x="0" y="0"/>
              <a:ext cx="11186100" cy="1095300"/>
            </a:xfrm>
            <a:prstGeom prst="roundRect">
              <a:avLst>
                <a:gd fmla="val 6956" name="adj"/>
              </a:avLst>
            </a:prstGeom>
            <a:solidFill>
              <a:srgbClr val="F2EFEA"/>
            </a:solidFill>
            <a:ln cap="flat" cmpd="sng" w="9525">
              <a:solidFill>
                <a:srgbClr val="E0E0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" name="Google Shape;377;p22"/>
            <p:cNvSpPr/>
            <p:nvPr/>
          </p:nvSpPr>
          <p:spPr>
            <a:xfrm>
              <a:off x="0" y="0"/>
              <a:ext cx="76200" cy="1095300"/>
            </a:xfrm>
            <a:prstGeom prst="roundRect">
              <a:avLst>
                <a:gd fmla="val 50000" name="adj"/>
              </a:avLst>
            </a:pr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" name="Google Shape;378;p22"/>
            <p:cNvSpPr txBox="1"/>
            <p:nvPr/>
          </p:nvSpPr>
          <p:spPr>
            <a:xfrm>
              <a:off x="285750" y="142875"/>
              <a:ext cx="106146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50">
                  <a:solidFill>
                    <a:srgbClr val="B32B1E"/>
                  </a:solidFill>
                  <a:latin typeface="Calibri"/>
                  <a:ea typeface="Calibri"/>
                  <a:cs typeface="Calibri"/>
                  <a:sym typeface="Calibri"/>
                </a:rPr>
                <a:t>Conclusion</a:t>
              </a:r>
              <a:r>
                <a:rPr b="1" lang="en-US" sz="1450">
                  <a:solidFill>
                    <a:srgbClr val="B32B1E"/>
                  </a:solidFill>
                  <a:latin typeface="Calibri"/>
                  <a:ea typeface="Calibri"/>
                  <a:cs typeface="Calibri"/>
                  <a:sym typeface="Calibri"/>
                </a:rPr>
                <a:t>:</a:t>
              </a:r>
              <a:r>
                <a:rPr lang="en-US" sz="1450">
                  <a:solidFill>
                    <a:srgbClr val="2A2A2A"/>
                  </a:solidFill>
                  <a:latin typeface="Calibri"/>
                  <a:ea typeface="Calibri"/>
                  <a:cs typeface="Calibri"/>
                  <a:sym typeface="Calibri"/>
                </a:rPr>
                <a:t> the modelling framework is technically sound and reproducible, but additional historical wildfire events are the critical requirement before operational deployment.</a:t>
              </a:r>
              <a:endParaRPr sz="1450">
                <a:solidFill>
                  <a:srgbClr val="2A2A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9" name="Google Shape;379;p22"/>
          <p:cNvSpPr txBox="1"/>
          <p:nvPr/>
        </p:nvSpPr>
        <p:spPr>
          <a:xfrm>
            <a:off x="502920" y="6528816"/>
            <a:ext cx="7315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Wildfire Insured-Loss Modelling — Alberta Portfolio</a:t>
            </a:r>
            <a:endParaRPr/>
          </a:p>
        </p:txBody>
      </p:sp>
      <p:sp>
        <p:nvSpPr>
          <p:cNvPr id="380" name="Google Shape;380;p22"/>
          <p:cNvSpPr txBox="1"/>
          <p:nvPr/>
        </p:nvSpPr>
        <p:spPr>
          <a:xfrm>
            <a:off x="11338560" y="6528816"/>
            <a:ext cx="457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