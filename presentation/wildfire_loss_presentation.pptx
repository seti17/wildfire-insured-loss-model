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B3655D-5CA0-49C8-9ED6-CE8EEB3D1A36}">
  <a:tblStyle styleId="{D1B3655D-5CA0-49C8-9ED6-CE8EEB3D1A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FC082E3-F23E-4240-AA9F-035BC632A3E7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589" y="2867800"/>
            <a:ext cx="113604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589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028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589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49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5838" y="-167"/>
            <a:ext cx="6095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3991" y="1644233"/>
            <a:ext cx="53934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3991" y="3737433"/>
            <a:ext cx="53934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5824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589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589" y="1474833"/>
            <a:ext cx="113604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589" y="4202967"/>
            <a:ext cx="113604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g3f5deaed062_32_0)">
  <p:cSld name="Title slide (g3f5deaed062_32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520686" y="2425700"/>
            <a:ext cx="10962600" cy="124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520686" y="3718840"/>
            <a:ext cx="109626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1364419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0" y="0"/>
            <a:ext cx="121920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822960" y="171450"/>
            <a:ext cx="1047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AVIVA CASE STUDY</a:t>
            </a:r>
            <a:endParaRPr b="1" sz="1200">
              <a:solidFill>
                <a:srgbClr val="F5D9C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822960" y="457200"/>
            <a:ext cx="1047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Wildfire Risk Analytics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571500" y="2095500"/>
            <a:ext cx="0" cy="2667000"/>
          </a:xfrm>
          <a:prstGeom prst="straightConnector1">
            <a:avLst/>
          </a:prstGeom>
          <a:solidFill>
            <a:srgbClr val="FFFFFF"/>
          </a:solidFill>
          <a:ln cap="rnd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4"/>
          <p:cNvSpPr txBox="1"/>
          <p:nvPr/>
        </p:nvSpPr>
        <p:spPr>
          <a:xfrm>
            <a:off x="822960" y="2000250"/>
            <a:ext cx="104775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</a:t>
            </a:r>
            <a:endParaRPr b="1" sz="5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22960" y="3333750"/>
            <a:ext cx="10477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Frequency-Severity Loss Model for an Alberta Property Portfolio,</a:t>
            </a:r>
            <a:endParaRPr b="0" sz="2000">
              <a:solidFill>
                <a:srgbClr val="2A2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Projected Under a Future Climate Scenario (EC-Earth3, SSP1-2.6)</a:t>
            </a:r>
            <a:endParaRPr b="0" sz="18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22960" y="4953000"/>
            <a:ext cx="4762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Seti Rahmani</a:t>
            </a:r>
            <a:endParaRPr b="1" sz="1600">
              <a:solidFill>
                <a:srgbClr val="2A2A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300">
              <a:solidFill>
                <a:srgbClr val="7777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02920" y="10972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1" sz="1200">
              <a:solidFill>
                <a:srgbClr val="F5D9C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02920" y="38404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&amp; Approach</a:t>
            </a:r>
            <a:endParaRPr/>
          </a:p>
        </p:txBody>
      </p:sp>
      <p:grpSp>
        <p:nvGrpSpPr>
          <p:cNvPr id="72" name="Google Shape;72;p15"/>
          <p:cNvGrpSpPr/>
          <p:nvPr/>
        </p:nvGrpSpPr>
        <p:grpSpPr>
          <a:xfrm>
            <a:off x="571500" y="1333500"/>
            <a:ext cx="5295900" cy="714300"/>
            <a:chOff x="0" y="0"/>
            <a:chExt cx="5295900" cy="7143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152400" y="0"/>
              <a:ext cx="5143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Goal</a:t>
              </a:r>
              <a:endParaRPr b="1" sz="14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Quantify wildfire insurance risk by FSA and portfolio-wide, and project losses under a future climate scenario.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15"/>
          <p:cNvSpPr txBox="1"/>
          <p:nvPr/>
        </p:nvSpPr>
        <p:spPr>
          <a:xfrm>
            <a:off x="502920" y="6528816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 — Alberta Portfolio</a:t>
            </a:r>
            <a:endParaRPr/>
          </a:p>
        </p:txBody>
      </p:sp>
      <p:grpSp>
        <p:nvGrpSpPr>
          <p:cNvPr id="76" name="Google Shape;76;p15"/>
          <p:cNvGrpSpPr/>
          <p:nvPr/>
        </p:nvGrpSpPr>
        <p:grpSpPr>
          <a:xfrm>
            <a:off x="571500" y="2238375"/>
            <a:ext cx="5295900" cy="714300"/>
            <a:chOff x="0" y="0"/>
            <a:chExt cx="5295900" cy="7143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52400" y="0"/>
              <a:ext cx="5143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Framework</a:t>
              </a:r>
              <a:endParaRPr b="1" sz="14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Frequency-severity structure — Negative Binomial GLM for claim frequency, Gamma GLM for claim severity.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15"/>
          <p:cNvSpPr txBox="1"/>
          <p:nvPr/>
        </p:nvSpPr>
        <p:spPr>
          <a:xfrm>
            <a:off x="11338560" y="6528816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grpSp>
        <p:nvGrpSpPr>
          <p:cNvPr id="80" name="Google Shape;80;p15"/>
          <p:cNvGrpSpPr/>
          <p:nvPr/>
        </p:nvGrpSpPr>
        <p:grpSpPr>
          <a:xfrm>
            <a:off x="571500" y="3143250"/>
            <a:ext cx="5295900" cy="714300"/>
            <a:chOff x="0" y="0"/>
            <a:chExt cx="5295900" cy="7143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52400" y="0"/>
              <a:ext cx="5143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Features</a:t>
              </a:r>
              <a:endParaRPr b="1" sz="14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Climate (Fire Weather Index) + geospatial (fuel type) + exposure, combined into one claims feature table.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571500" y="4048125"/>
            <a:ext cx="5295900" cy="904800"/>
            <a:chOff x="0" y="0"/>
            <a:chExt cx="5295900" cy="904800"/>
          </a:xfrm>
        </p:grpSpPr>
        <p:sp>
          <p:nvSpPr>
            <p:cNvPr id="84" name="Google Shape;84;p15"/>
            <p:cNvSpPr/>
            <p:nvPr/>
          </p:nvSpPr>
          <p:spPr>
            <a:xfrm>
              <a:off x="0" y="0"/>
              <a:ext cx="38100" cy="9048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152400" y="0"/>
              <a:ext cx="5143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Discipline</a:t>
              </a:r>
              <a:endParaRPr b="1" sz="14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Every non-obvious result was independently verified against source data, not assumed — model complexity was deliberately scoped to what 2 historical events can support.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571500" y="5143500"/>
            <a:ext cx="5295900" cy="714300"/>
            <a:chOff x="0" y="0"/>
            <a:chExt cx="5295900" cy="714300"/>
          </a:xfrm>
        </p:grpSpPr>
        <p:sp>
          <p:nvSpPr>
            <p:cNvPr id="87" name="Google Shape;87;p15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152400" y="0"/>
              <a:ext cx="5143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Scope</a:t>
              </a:r>
              <a:endParaRPr b="1" sz="14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A transparent, defensible baseline — not a production catastrophe model.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6286500" y="1333500"/>
            <a:ext cx="5334000" cy="4857900"/>
            <a:chOff x="0" y="0"/>
            <a:chExt cx="5334000" cy="48579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5334000" cy="4857900"/>
            </a:xfrm>
            <a:prstGeom prst="roundRect">
              <a:avLst>
                <a:gd fmla="val 156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190500" y="19050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rPr>
                <a:t>Project Workflow</a:t>
              </a:r>
              <a:endParaRPr b="1" sz="180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2" name="Google Shape;92;p15"/>
            <p:cNvCxnSpPr/>
            <p:nvPr/>
          </p:nvCxnSpPr>
          <p:spPr>
            <a:xfrm>
              <a:off x="476250" y="809625"/>
              <a:ext cx="0" cy="36195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" name="Google Shape;93;p15"/>
            <p:cNvSpPr/>
            <p:nvPr/>
          </p:nvSpPr>
          <p:spPr>
            <a:xfrm>
              <a:off x="428625" y="762000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428625" y="1214438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428625" y="1666875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428625" y="2119313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28625" y="2571750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428625" y="3024188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428625" y="3476625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28625" y="3929063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428625" y="4381500"/>
              <a:ext cx="95400" cy="954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666750" y="695325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Raw claims + climate + fuel data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666750" y="1147763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Feature engineering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666750" y="1600200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Poisson baseline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666750" y="2052638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Overdispersion → Negative Binomial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666750" y="2505075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Multiple FWI features → Multicollinearity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666750" y="2957513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Feature reduction (2 climate + 1 fuel)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666750" y="3409950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Validation &amp; diagnostics (LOEO + spatial dependence)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666750" y="3862388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Future climate scenario (SSP1-2.6)</a:t>
              </a:r>
              <a:endParaRPr b="0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666750" y="4314825"/>
              <a:ext cx="4476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Figures • Maps • Results • Report</a:t>
              </a:r>
              <a:endParaRPr b="1" sz="11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02920" y="10972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02920" y="38404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Sources &amp; Pipeline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02920" y="6528816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 — Alberta Portfolio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1338560" y="6528816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pSp>
        <p:nvGrpSpPr>
          <p:cNvPr id="120" name="Google Shape;120;p16"/>
          <p:cNvGrpSpPr/>
          <p:nvPr/>
        </p:nvGrpSpPr>
        <p:grpSpPr>
          <a:xfrm>
            <a:off x="495300" y="1333500"/>
            <a:ext cx="3143400" cy="4667400"/>
            <a:chOff x="495300" y="1333500"/>
            <a:chExt cx="3143400" cy="4667400"/>
          </a:xfrm>
        </p:grpSpPr>
        <p:sp>
          <p:nvSpPr>
            <p:cNvPr id="121" name="Google Shape;121;p16"/>
            <p:cNvSpPr/>
            <p:nvPr/>
          </p:nvSpPr>
          <p:spPr>
            <a:xfrm>
              <a:off x="495300" y="1333500"/>
              <a:ext cx="3143400" cy="4667400"/>
            </a:xfrm>
            <a:prstGeom prst="roundRect">
              <a:avLst>
                <a:gd fmla="val 2424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685800" y="1524000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rPr>
                <a:t>Data Sources</a:t>
              </a:r>
              <a:endParaRPr b="1" sz="180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" name="Google Shape;123;p16"/>
            <p:cNvGrpSpPr/>
            <p:nvPr/>
          </p:nvGrpSpPr>
          <p:grpSpPr>
            <a:xfrm>
              <a:off x="695325" y="2047875"/>
              <a:ext cx="2562375" cy="428700"/>
              <a:chOff x="9525" y="0"/>
              <a:chExt cx="2562375" cy="428700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9525" y="66675"/>
                <a:ext cx="95400" cy="954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 txBox="1"/>
              <p:nvPr/>
            </p:nvSpPr>
            <p:spPr>
              <a:xfrm>
                <a:off x="190500" y="0"/>
                <a:ext cx="2381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285F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Portfolio</a:t>
                </a:r>
                <a:br>
                  <a:rPr lang="en-US" sz="130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150">
                    <a:solidFill>
                      <a:srgbClr val="5555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159 FSAs (Alberta region)</a:t>
                </a:r>
                <a:endParaRPr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" name="Google Shape;126;p16"/>
            <p:cNvGrpSpPr/>
            <p:nvPr/>
          </p:nvGrpSpPr>
          <p:grpSpPr>
            <a:xfrm>
              <a:off x="695325" y="2619375"/>
              <a:ext cx="2562375" cy="428700"/>
              <a:chOff x="9525" y="0"/>
              <a:chExt cx="2562375" cy="428700"/>
            </a:xfrm>
          </p:grpSpPr>
          <p:sp>
            <p:nvSpPr>
              <p:cNvPr id="127" name="Google Shape;127;p16"/>
              <p:cNvSpPr/>
              <p:nvPr/>
            </p:nvSpPr>
            <p:spPr>
              <a:xfrm>
                <a:off x="9525" y="66675"/>
                <a:ext cx="95400" cy="954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190500" y="0"/>
                <a:ext cx="2381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285F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Claims</a:t>
                </a:r>
                <a:br>
                  <a:rPr lang="en-US" sz="130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150">
                    <a:solidFill>
                      <a:srgbClr val="5555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305 rows; 2 wildfire events</a:t>
                </a:r>
                <a:endParaRPr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" name="Google Shape;129;p16"/>
            <p:cNvGrpSpPr/>
            <p:nvPr/>
          </p:nvGrpSpPr>
          <p:grpSpPr>
            <a:xfrm>
              <a:off x="695325" y="3190875"/>
              <a:ext cx="2562375" cy="428700"/>
              <a:chOff x="9525" y="0"/>
              <a:chExt cx="2562375" cy="428700"/>
            </a:xfrm>
          </p:grpSpPr>
          <p:sp>
            <p:nvSpPr>
              <p:cNvPr id="130" name="Google Shape;130;p16"/>
              <p:cNvSpPr/>
              <p:nvPr/>
            </p:nvSpPr>
            <p:spPr>
              <a:xfrm>
                <a:off x="9525" y="66675"/>
                <a:ext cx="95400" cy="954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6"/>
              <p:cNvSpPr txBox="1"/>
              <p:nvPr/>
            </p:nvSpPr>
            <p:spPr>
              <a:xfrm>
                <a:off x="190500" y="0"/>
                <a:ext cx="2381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285F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CMIP6 Climate</a:t>
                </a:r>
                <a:br>
                  <a:rPr lang="en-US" sz="130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150">
                    <a:solidFill>
                      <a:srgbClr val="5555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Global climate projections</a:t>
                </a:r>
                <a:endParaRPr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16"/>
            <p:cNvGrpSpPr/>
            <p:nvPr/>
          </p:nvGrpSpPr>
          <p:grpSpPr>
            <a:xfrm>
              <a:off x="695325" y="3762375"/>
              <a:ext cx="2562375" cy="428700"/>
              <a:chOff x="9525" y="0"/>
              <a:chExt cx="2562375" cy="428700"/>
            </a:xfrm>
          </p:grpSpPr>
          <p:sp>
            <p:nvSpPr>
              <p:cNvPr id="133" name="Google Shape;133;p16"/>
              <p:cNvSpPr/>
              <p:nvPr/>
            </p:nvSpPr>
            <p:spPr>
              <a:xfrm>
                <a:off x="9525" y="66675"/>
                <a:ext cx="95400" cy="954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190500" y="0"/>
                <a:ext cx="2381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285F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Canadian Fuel Raster</a:t>
                </a:r>
                <a:br>
                  <a:rPr lang="en-US" sz="130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150">
                    <a:solidFill>
                      <a:srgbClr val="5555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National fuel type mapping</a:t>
                </a:r>
                <a:endParaRPr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6"/>
            <p:cNvGrpSpPr/>
            <p:nvPr/>
          </p:nvGrpSpPr>
          <p:grpSpPr>
            <a:xfrm>
              <a:off x="695325" y="4333875"/>
              <a:ext cx="2562375" cy="428700"/>
              <a:chOff x="9525" y="0"/>
              <a:chExt cx="2562375" cy="428700"/>
            </a:xfrm>
          </p:grpSpPr>
          <p:sp>
            <p:nvSpPr>
              <p:cNvPr id="136" name="Google Shape;136;p16"/>
              <p:cNvSpPr/>
              <p:nvPr/>
            </p:nvSpPr>
            <p:spPr>
              <a:xfrm>
                <a:off x="9525" y="66675"/>
                <a:ext cx="95400" cy="954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6"/>
              <p:cNvSpPr txBox="1"/>
              <p:nvPr/>
            </p:nvSpPr>
            <p:spPr>
              <a:xfrm>
                <a:off x="190500" y="0"/>
                <a:ext cx="2381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4285F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StatCan FSA Boundaries</a:t>
                </a:r>
                <a:br>
                  <a:rPr lang="en-US" sz="130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150">
                    <a:solidFill>
                      <a:srgbClr val="5555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Official spatial polygons</a:t>
                </a:r>
                <a:endParaRPr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8" name="Google Shape;138;p16"/>
          <p:cNvGrpSpPr/>
          <p:nvPr/>
        </p:nvGrpSpPr>
        <p:grpSpPr>
          <a:xfrm>
            <a:off x="3829050" y="1333500"/>
            <a:ext cx="3714900" cy="4667400"/>
            <a:chOff x="3829050" y="1333500"/>
            <a:chExt cx="3714900" cy="4667400"/>
          </a:xfrm>
        </p:grpSpPr>
        <p:sp>
          <p:nvSpPr>
            <p:cNvPr id="139" name="Google Shape;139;p16"/>
            <p:cNvSpPr/>
            <p:nvPr/>
          </p:nvSpPr>
          <p:spPr>
            <a:xfrm>
              <a:off x="3829050" y="1333500"/>
              <a:ext cx="3714900" cy="4667400"/>
            </a:xfrm>
            <a:prstGeom prst="roundRect">
              <a:avLst>
                <a:gd fmla="val 205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4019550" y="1524000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rPr>
                <a:t>Data Pipeline</a:t>
              </a:r>
              <a:endParaRPr b="1" sz="180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" name="Google Shape;141;p16"/>
            <p:cNvGrpSpPr/>
            <p:nvPr/>
          </p:nvGrpSpPr>
          <p:grpSpPr>
            <a:xfrm>
              <a:off x="4733925" y="2000250"/>
              <a:ext cx="1905000" cy="324000"/>
              <a:chOff x="0" y="0"/>
              <a:chExt cx="1905000" cy="324000"/>
            </a:xfrm>
          </p:grpSpPr>
          <p:sp>
            <p:nvSpPr>
              <p:cNvPr id="142" name="Google Shape;142;p16"/>
              <p:cNvSpPr/>
              <p:nvPr/>
            </p:nvSpPr>
            <p:spPr>
              <a:xfrm>
                <a:off x="0" y="0"/>
                <a:ext cx="1905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6"/>
              <p:cNvSpPr txBox="1"/>
              <p:nvPr/>
            </p:nvSpPr>
            <p:spPr>
              <a:xfrm>
                <a:off x="0" y="0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Climate</a:t>
                </a:r>
                <a:endParaRPr b="1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" name="Google Shape;144;p16"/>
            <p:cNvSpPr/>
            <p:nvPr/>
          </p:nvSpPr>
          <p:spPr>
            <a:xfrm>
              <a:off x="5686425" y="2324100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5648325" y="2466975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16"/>
            <p:cNvGrpSpPr/>
            <p:nvPr/>
          </p:nvGrpSpPr>
          <p:grpSpPr>
            <a:xfrm>
              <a:off x="4733925" y="2524125"/>
              <a:ext cx="1905000" cy="324000"/>
              <a:chOff x="0" y="0"/>
              <a:chExt cx="1905000" cy="324000"/>
            </a:xfrm>
          </p:grpSpPr>
          <p:sp>
            <p:nvSpPr>
              <p:cNvPr id="147" name="Google Shape;147;p16"/>
              <p:cNvSpPr/>
              <p:nvPr/>
            </p:nvSpPr>
            <p:spPr>
              <a:xfrm>
                <a:off x="0" y="0"/>
                <a:ext cx="1905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E8F0FE"/>
              </a:solidFill>
              <a:ln cap="flat" cmpd="sng" w="9525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6"/>
              <p:cNvSpPr txBox="1"/>
              <p:nvPr/>
            </p:nvSpPr>
            <p:spPr>
              <a:xfrm>
                <a:off x="0" y="0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1A73E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Fire Weather Index</a:t>
                </a:r>
                <a:endParaRPr b="1" sz="105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" name="Google Shape;149;p16"/>
            <p:cNvSpPr/>
            <p:nvPr/>
          </p:nvSpPr>
          <p:spPr>
            <a:xfrm>
              <a:off x="4495800" y="2847975"/>
              <a:ext cx="1190700" cy="2478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9231"/>
                  </a:lnTo>
                  <a:lnTo>
                    <a:pt x="0" y="69231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5686425" y="2847975"/>
              <a:ext cx="1190700" cy="247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9231"/>
                  </a:lnTo>
                  <a:lnTo>
                    <a:pt x="120000" y="69231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4457700" y="308610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6838950" y="308610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" name="Google Shape;153;p16"/>
            <p:cNvGrpSpPr/>
            <p:nvPr/>
          </p:nvGrpSpPr>
          <p:grpSpPr>
            <a:xfrm>
              <a:off x="3971925" y="3143250"/>
              <a:ext cx="1047900" cy="324000"/>
              <a:chOff x="0" y="0"/>
              <a:chExt cx="1047900" cy="324000"/>
            </a:xfrm>
          </p:grpSpPr>
          <p:sp>
            <p:nvSpPr>
              <p:cNvPr id="154" name="Google Shape;154;p16"/>
              <p:cNvSpPr/>
              <p:nvPr/>
            </p:nvSpPr>
            <p:spPr>
              <a:xfrm>
                <a:off x="0" y="0"/>
                <a:ext cx="10479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E8F0FE"/>
              </a:solidFill>
              <a:ln cap="flat" cmpd="sng" w="9525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6"/>
              <p:cNvSpPr txBox="1"/>
              <p:nvPr/>
            </p:nvSpPr>
            <p:spPr>
              <a:xfrm>
                <a:off x="0" y="0"/>
                <a:ext cx="1047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1A73E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Fuel Data</a:t>
                </a:r>
                <a:endParaRPr b="1" sz="100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16"/>
            <p:cNvGrpSpPr/>
            <p:nvPr/>
          </p:nvGrpSpPr>
          <p:grpSpPr>
            <a:xfrm>
              <a:off x="6353175" y="3143250"/>
              <a:ext cx="1047900" cy="324000"/>
              <a:chOff x="0" y="0"/>
              <a:chExt cx="1047900" cy="324000"/>
            </a:xfrm>
          </p:grpSpPr>
          <p:sp>
            <p:nvSpPr>
              <p:cNvPr id="157" name="Google Shape;157;p16"/>
              <p:cNvSpPr/>
              <p:nvPr/>
            </p:nvSpPr>
            <p:spPr>
              <a:xfrm>
                <a:off x="0" y="0"/>
                <a:ext cx="10479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E8F0FE"/>
              </a:solidFill>
              <a:ln cap="flat" cmpd="sng" w="9525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6"/>
              <p:cNvSpPr txBox="1"/>
              <p:nvPr/>
            </p:nvSpPr>
            <p:spPr>
              <a:xfrm>
                <a:off x="0" y="0"/>
                <a:ext cx="1047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1A73E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Portfolio</a:t>
                </a:r>
                <a:endParaRPr b="1" sz="100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" name="Google Shape;159;p16"/>
            <p:cNvSpPr/>
            <p:nvPr/>
          </p:nvSpPr>
          <p:spPr>
            <a:xfrm>
              <a:off x="4495800" y="3467100"/>
              <a:ext cx="1190700" cy="295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1935"/>
                  </a:lnTo>
                  <a:lnTo>
                    <a:pt x="120000" y="61935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686425" y="3467100"/>
              <a:ext cx="1190700" cy="2952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1935"/>
                  </a:lnTo>
                  <a:lnTo>
                    <a:pt x="0" y="61935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648325" y="375285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16"/>
            <p:cNvGrpSpPr/>
            <p:nvPr/>
          </p:nvGrpSpPr>
          <p:grpSpPr>
            <a:xfrm>
              <a:off x="4733925" y="3810000"/>
              <a:ext cx="1905000" cy="324000"/>
              <a:chOff x="0" y="0"/>
              <a:chExt cx="1905000" cy="324000"/>
            </a:xfrm>
          </p:grpSpPr>
          <p:sp>
            <p:nvSpPr>
              <p:cNvPr id="163" name="Google Shape;163;p16"/>
              <p:cNvSpPr/>
              <p:nvPr/>
            </p:nvSpPr>
            <p:spPr>
              <a:xfrm>
                <a:off x="0" y="0"/>
                <a:ext cx="1905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E8F0FE"/>
              </a:solidFill>
              <a:ln cap="flat" cmpd="sng" w="9525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6"/>
              <p:cNvSpPr txBox="1"/>
              <p:nvPr/>
            </p:nvSpPr>
            <p:spPr>
              <a:xfrm>
                <a:off x="0" y="0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1A73E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FSA Features</a:t>
                </a:r>
                <a:endParaRPr b="1" sz="105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" name="Google Shape;165;p16"/>
            <p:cNvSpPr/>
            <p:nvPr/>
          </p:nvSpPr>
          <p:spPr>
            <a:xfrm>
              <a:off x="5686425" y="4133850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5648325" y="4276725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7" name="Google Shape;167;p16"/>
            <p:cNvGrpSpPr/>
            <p:nvPr/>
          </p:nvGrpSpPr>
          <p:grpSpPr>
            <a:xfrm>
              <a:off x="4733925" y="4333875"/>
              <a:ext cx="1905000" cy="324000"/>
              <a:chOff x="0" y="0"/>
              <a:chExt cx="1905000" cy="324000"/>
            </a:xfrm>
          </p:grpSpPr>
          <p:sp>
            <p:nvSpPr>
              <p:cNvPr id="168" name="Google Shape;168;p16"/>
              <p:cNvSpPr/>
              <p:nvPr/>
            </p:nvSpPr>
            <p:spPr>
              <a:xfrm>
                <a:off x="0" y="0"/>
                <a:ext cx="1905000" cy="324000"/>
              </a:xfrm>
              <a:prstGeom prst="roundRect">
                <a:avLst>
                  <a:gd fmla="val 11764" name="adj"/>
                </a:avLst>
              </a:prstGeom>
              <a:solidFill>
                <a:srgbClr val="E8F0FE"/>
              </a:solidFill>
              <a:ln cap="flat" cmpd="sng" w="9525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6"/>
              <p:cNvSpPr txBox="1"/>
              <p:nvPr/>
            </p:nvSpPr>
            <p:spPr>
              <a:xfrm>
                <a:off x="0" y="0"/>
                <a:ext cx="1905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1A73E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Historical Claims</a:t>
                </a:r>
                <a:endParaRPr b="1" sz="105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" name="Google Shape;170;p16"/>
            <p:cNvSpPr/>
            <p:nvPr/>
          </p:nvSpPr>
          <p:spPr>
            <a:xfrm>
              <a:off x="5686425" y="4657725"/>
              <a:ext cx="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5648325" y="4800600"/>
              <a:ext cx="76200" cy="573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p16"/>
            <p:cNvGrpSpPr/>
            <p:nvPr/>
          </p:nvGrpSpPr>
          <p:grpSpPr>
            <a:xfrm>
              <a:off x="4543425" y="4857750"/>
              <a:ext cx="2286000" cy="362100"/>
              <a:chOff x="0" y="0"/>
              <a:chExt cx="2286000" cy="362100"/>
            </a:xfrm>
          </p:grpSpPr>
          <p:sp>
            <p:nvSpPr>
              <p:cNvPr id="173" name="Google Shape;173;p16"/>
              <p:cNvSpPr/>
              <p:nvPr/>
            </p:nvSpPr>
            <p:spPr>
              <a:xfrm>
                <a:off x="0" y="0"/>
                <a:ext cx="2286000" cy="362100"/>
              </a:xfrm>
              <a:prstGeom prst="roundRect">
                <a:avLst>
                  <a:gd fmla="val 10526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6"/>
              <p:cNvSpPr txBox="1"/>
              <p:nvPr/>
            </p:nvSpPr>
            <p:spPr>
              <a:xfrm>
                <a:off x="0" y="0"/>
                <a:ext cx="22860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Claims Feature Table</a:t>
                </a:r>
                <a:endParaRPr b="1" sz="11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" name="Google Shape;175;p16"/>
          <p:cNvGrpSpPr/>
          <p:nvPr/>
        </p:nvGrpSpPr>
        <p:grpSpPr>
          <a:xfrm>
            <a:off x="7734300" y="1333500"/>
            <a:ext cx="3962400" cy="4667250"/>
            <a:chOff x="7734300" y="1333500"/>
            <a:chExt cx="3962400" cy="4667250"/>
          </a:xfrm>
        </p:grpSpPr>
        <p:grpSp>
          <p:nvGrpSpPr>
            <p:cNvPr id="176" name="Google Shape;176;p16"/>
            <p:cNvGrpSpPr/>
            <p:nvPr/>
          </p:nvGrpSpPr>
          <p:grpSpPr>
            <a:xfrm>
              <a:off x="7734300" y="1333500"/>
              <a:ext cx="3962400" cy="1381200"/>
              <a:chOff x="0" y="0"/>
              <a:chExt cx="3962400" cy="1381200"/>
            </a:xfrm>
          </p:grpSpPr>
          <p:sp>
            <p:nvSpPr>
              <p:cNvPr id="177" name="Google Shape;177;p16"/>
              <p:cNvSpPr/>
              <p:nvPr/>
            </p:nvSpPr>
            <p:spPr>
              <a:xfrm>
                <a:off x="0" y="0"/>
                <a:ext cx="3962400" cy="1381200"/>
              </a:xfrm>
              <a:prstGeom prst="roundRect">
                <a:avLst>
                  <a:gd fmla="val 4137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6"/>
              <p:cNvSpPr/>
              <p:nvPr/>
            </p:nvSpPr>
            <p:spPr>
              <a:xfrm>
                <a:off x="0" y="0"/>
                <a:ext cx="57300" cy="1381200"/>
              </a:xfrm>
              <a:prstGeom prst="roundRect">
                <a:avLst>
                  <a:gd fmla="val 50000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6"/>
              <p:cNvSpPr txBox="1"/>
              <p:nvPr/>
            </p:nvSpPr>
            <p:spPr>
              <a:xfrm>
                <a:off x="238125" y="142875"/>
                <a:ext cx="34863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4285F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Validation</a:t>
                </a:r>
                <a:endParaRPr b="1" sz="16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25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Key assumptions regarding climate, spatial data, and joins have been verified and corrected.</a:t>
                </a:r>
                <a:endParaRPr b="0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16"/>
            <p:cNvGrpSpPr/>
            <p:nvPr/>
          </p:nvGrpSpPr>
          <p:grpSpPr>
            <a:xfrm>
              <a:off x="7734300" y="2905125"/>
              <a:ext cx="3962400" cy="1381200"/>
              <a:chOff x="0" y="0"/>
              <a:chExt cx="3962400" cy="1381200"/>
            </a:xfrm>
          </p:grpSpPr>
          <p:sp>
            <p:nvSpPr>
              <p:cNvPr id="181" name="Google Shape;181;p16"/>
              <p:cNvSpPr/>
              <p:nvPr/>
            </p:nvSpPr>
            <p:spPr>
              <a:xfrm>
                <a:off x="0" y="0"/>
                <a:ext cx="3962400" cy="1381200"/>
              </a:xfrm>
              <a:prstGeom prst="roundRect">
                <a:avLst>
                  <a:gd fmla="val 4137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6"/>
              <p:cNvSpPr/>
              <p:nvPr/>
            </p:nvSpPr>
            <p:spPr>
              <a:xfrm>
                <a:off x="0" y="0"/>
                <a:ext cx="57300" cy="1381200"/>
              </a:xfrm>
              <a:prstGeom prst="roundRect">
                <a:avLst>
                  <a:gd fmla="val 50000" name="adj"/>
                </a:avLst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6"/>
              <p:cNvSpPr txBox="1"/>
              <p:nvPr/>
            </p:nvSpPr>
            <p:spPr>
              <a:xfrm>
                <a:off x="238125" y="142875"/>
                <a:ext cx="34863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22C5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Testing</a:t>
                </a:r>
                <a:endParaRPr b="1" sz="16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25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High-risk transformations are covered by pytest, which also successfully identified a minor data artifact.</a:t>
                </a:r>
                <a:endParaRPr b="0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" name="Google Shape;184;p16"/>
            <p:cNvGrpSpPr/>
            <p:nvPr/>
          </p:nvGrpSpPr>
          <p:grpSpPr>
            <a:xfrm>
              <a:off x="7734300" y="4476750"/>
              <a:ext cx="3962400" cy="1524000"/>
              <a:chOff x="0" y="0"/>
              <a:chExt cx="3962400" cy="1524000"/>
            </a:xfrm>
          </p:grpSpPr>
          <p:sp>
            <p:nvSpPr>
              <p:cNvPr id="185" name="Google Shape;185;p16"/>
              <p:cNvSpPr/>
              <p:nvPr/>
            </p:nvSpPr>
            <p:spPr>
              <a:xfrm>
                <a:off x="0" y="0"/>
                <a:ext cx="3962400" cy="1524000"/>
              </a:xfrm>
              <a:prstGeom prst="roundRect">
                <a:avLst>
                  <a:gd fmla="val 375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6"/>
              <p:cNvSpPr/>
              <p:nvPr/>
            </p:nvSpPr>
            <p:spPr>
              <a:xfrm>
                <a:off x="0" y="0"/>
                <a:ext cx="57300" cy="1524000"/>
              </a:xfrm>
              <a:prstGeom prst="roundRect">
                <a:avLst>
                  <a:gd fmla="val 50000" name="adj"/>
                </a:avLst>
              </a:prstGeom>
              <a:solidFill>
                <a:srgbClr val="EA433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6"/>
              <p:cNvSpPr txBox="1"/>
              <p:nvPr/>
            </p:nvSpPr>
            <p:spPr>
              <a:xfrm>
                <a:off x="238125" y="142875"/>
                <a:ext cx="34863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EA433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Boundary Gaps</a:t>
                </a:r>
                <a:endParaRPr b="1" sz="1600">
                  <a:solidFill>
                    <a:srgbClr val="EA433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US" sz="125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Five FSAs are missing polygons, including two valid FSAs (</a:t>
                </a:r>
                <a:r>
                  <a:rPr b="1" lang="en-US" sz="1250">
                    <a:solidFill>
                      <a:srgbClr val="EA433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T3T</a:t>
                </a:r>
                <a:r>
                  <a:rPr b="0" lang="en-US" sz="125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and </a:t>
                </a:r>
                <a:r>
                  <a:rPr b="1" lang="en-US" sz="1250">
                    <a:solidFill>
                      <a:srgbClr val="EA433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T4K</a:t>
                </a:r>
                <a:r>
                  <a:rPr b="0" lang="en-US" sz="1250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) that require resolution.</a:t>
                </a:r>
                <a:endParaRPr b="0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502920" y="10972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502920" y="38404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Insights</a:t>
            </a:r>
            <a:endParaRPr/>
          </a:p>
        </p:txBody>
      </p:sp>
      <p:grpSp>
        <p:nvGrpSpPr>
          <p:cNvPr id="195" name="Google Shape;195;p17"/>
          <p:cNvGrpSpPr/>
          <p:nvPr/>
        </p:nvGrpSpPr>
        <p:grpSpPr>
          <a:xfrm>
            <a:off x="571500" y="1333500"/>
            <a:ext cx="4762500" cy="762000"/>
            <a:chOff x="0" y="0"/>
            <a:chExt cx="4762500" cy="762000"/>
          </a:xfrm>
        </p:grpSpPr>
        <p:sp>
          <p:nvSpPr>
            <p:cNvPr id="196" name="Google Shape;196;p17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152400" y="0"/>
              <a:ext cx="461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Losses are concentrated</a:t>
              </a:r>
              <a:endParaRPr b="1" sz="14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Most FSA/event rows record zero loss; nonzero losses span ~6 orders of magnitude ($62 to $33.9M).</a:t>
              </a:r>
              <a:endParaRPr b="0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7"/>
          <p:cNvGrpSpPr/>
          <p:nvPr/>
        </p:nvGrpSpPr>
        <p:grpSpPr>
          <a:xfrm>
            <a:off x="571500" y="2238375"/>
            <a:ext cx="4762500" cy="762000"/>
            <a:chOff x="0" y="0"/>
            <a:chExt cx="4762500" cy="762000"/>
          </a:xfrm>
        </p:grpSpPr>
        <p:sp>
          <p:nvSpPr>
            <p:cNvPr id="199" name="Google Shape;199;p17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152400" y="0"/>
              <a:ext cx="461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Severity ≠ exposure scaling</a:t>
              </a:r>
              <a:endParaRPr b="1" sz="14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No clear linear relationship between exposure value and loss — whether an FSA was affected matters more than its size.</a:t>
              </a:r>
              <a:endParaRPr b="0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7"/>
          <p:cNvGrpSpPr/>
          <p:nvPr/>
        </p:nvGrpSpPr>
        <p:grpSpPr>
          <a:xfrm>
            <a:off x="571500" y="3143250"/>
            <a:ext cx="4762500" cy="762000"/>
            <a:chOff x="0" y="0"/>
            <a:chExt cx="4762500" cy="762000"/>
          </a:xfrm>
        </p:grpSpPr>
        <p:sp>
          <p:nvSpPr>
            <p:cNvPr id="202" name="Google Shape;202;p17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152400" y="0"/>
              <a:ext cx="461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24% of claim rows lack FWI signal</a:t>
              </a:r>
              <a:endParaRPr b="1" sz="14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Investigated, not discarded — mostly a genuine pre-fire-season timing issue in the May 2016 event.</a:t>
              </a:r>
              <a:endParaRPr b="0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7"/>
          <p:cNvGrpSpPr/>
          <p:nvPr/>
        </p:nvGrpSpPr>
        <p:grpSpPr>
          <a:xfrm>
            <a:off x="571500" y="4048125"/>
            <a:ext cx="4762500" cy="762000"/>
            <a:chOff x="0" y="0"/>
            <a:chExt cx="4762500" cy="762000"/>
          </a:xfrm>
        </p:grpSpPr>
        <p:sp>
          <p:nvSpPr>
            <p:cNvPr id="205" name="Google Shape;205;p17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 txBox="1"/>
            <p:nvPr/>
          </p:nvSpPr>
          <p:spPr>
            <a:xfrm>
              <a:off x="152400" y="0"/>
              <a:ext cx="461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Spatial signatures differ by event</a:t>
              </a:r>
              <a:endParaRPr b="1" sz="14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May 2016 losses are geographically clustered (one spreading fire); Jul/Aug 2024 losses are scattered (multiple disconnected fires).</a:t>
              </a:r>
              <a:endParaRPr b="0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7"/>
          <p:cNvGrpSpPr/>
          <p:nvPr/>
        </p:nvGrpSpPr>
        <p:grpSpPr>
          <a:xfrm>
            <a:off x="571500" y="4953000"/>
            <a:ext cx="4762500" cy="762000"/>
            <a:chOff x="0" y="0"/>
            <a:chExt cx="4762500" cy="762000"/>
          </a:xfrm>
        </p:grpSpPr>
        <p:sp>
          <p:nvSpPr>
            <p:cNvPr id="208" name="Google Shape;208;p17"/>
            <p:cNvSpPr/>
            <p:nvPr/>
          </p:nvSpPr>
          <p:spPr>
            <a:xfrm>
              <a:off x="0" y="0"/>
              <a:ext cx="38100" cy="714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152400" y="0"/>
              <a:ext cx="46101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FWI distributions are multi-modal</a:t>
              </a:r>
              <a:endParaRPr b="1" sz="14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Consistent with the two events drawing from different fire-weather regimes, not one smooth distribution.</a:t>
              </a:r>
              <a:endParaRPr b="0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0" name="Google Shape;210;p17"/>
          <p:cNvPicPr preferRelativeResize="0"/>
          <p:nvPr/>
        </p:nvPicPr>
        <p:blipFill rotWithShape="1">
          <a:blip r:embed="rId3">
            <a:alphaModFix/>
          </a:blip>
          <a:srcRect b="30" l="0" r="0" t="20"/>
          <a:stretch/>
        </p:blipFill>
        <p:spPr>
          <a:xfrm>
            <a:off x="5857875" y="1666875"/>
            <a:ext cx="5848500" cy="38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 txBox="1"/>
          <p:nvPr/>
        </p:nvSpPr>
        <p:spPr>
          <a:xfrm>
            <a:off x="502920" y="6528816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 — Alberta Portfolio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11338560" y="6528816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502920" y="10972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MODELLING APPROACH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502920" y="38404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 &amp; Model Evolution</a:t>
            </a:r>
            <a:endParaRPr/>
          </a:p>
        </p:txBody>
      </p:sp>
      <p:grpSp>
        <p:nvGrpSpPr>
          <p:cNvPr id="220" name="Google Shape;220;p18"/>
          <p:cNvGrpSpPr/>
          <p:nvPr/>
        </p:nvGrpSpPr>
        <p:grpSpPr>
          <a:xfrm>
            <a:off x="502920" y="1285875"/>
            <a:ext cx="5524500" cy="2238300"/>
            <a:chOff x="0" y="0"/>
            <a:chExt cx="5524500" cy="2238300"/>
          </a:xfrm>
        </p:grpSpPr>
        <p:sp>
          <p:nvSpPr>
            <p:cNvPr id="221" name="Google Shape;221;p18"/>
            <p:cNvSpPr/>
            <p:nvPr/>
          </p:nvSpPr>
          <p:spPr>
            <a:xfrm>
              <a:off x="0" y="0"/>
              <a:ext cx="5524500" cy="2238300"/>
            </a:xfrm>
            <a:prstGeom prst="roundRect">
              <a:avLst>
                <a:gd fmla="val 340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0" y="0"/>
              <a:ext cx="57300" cy="2238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238125" y="190500"/>
              <a:ext cx="5048400" cy="18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rPr>
                <a:t>Feature Selection Logic</a:t>
              </a:r>
              <a:endParaRPr b="1" sz="160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rPr>
                <a:t>▪ Climate: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fwi_max (headline fire-weather hazard), dc_max (drought/fuel-dryness proxy, r≈0.35 with fwi_max).</a:t>
              </a:r>
              <a:endParaRPr b="0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rPr>
                <a:t>▪ Geospatial: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dominant_fuel_pct — low collinearity with both climate features (r&lt;0.1).</a:t>
              </a:r>
              <a:endParaRPr b="0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EA4335"/>
                  </a:solidFill>
                  <a:latin typeface="Calibri"/>
                  <a:ea typeface="Calibri"/>
                  <a:cs typeface="Calibri"/>
                  <a:sym typeface="Calibri"/>
                </a:rPr>
                <a:t>▪ Constraint: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Why only 3 predictors? FWI-family features are almost collinear (r&gt;0.9) — EDA ruled out using several together.</a:t>
              </a:r>
              <a:endParaRPr b="0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8"/>
          <p:cNvGrpSpPr/>
          <p:nvPr/>
        </p:nvGrpSpPr>
        <p:grpSpPr>
          <a:xfrm>
            <a:off x="502920" y="3667125"/>
            <a:ext cx="5524500" cy="2571900"/>
            <a:chOff x="0" y="0"/>
            <a:chExt cx="5524500" cy="2571900"/>
          </a:xfrm>
        </p:grpSpPr>
        <p:sp>
          <p:nvSpPr>
            <p:cNvPr id="225" name="Google Shape;225;p18"/>
            <p:cNvSpPr/>
            <p:nvPr/>
          </p:nvSpPr>
          <p:spPr>
            <a:xfrm>
              <a:off x="0" y="0"/>
              <a:ext cx="5524500" cy="25719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0" y="0"/>
              <a:ext cx="57300" cy="2571900"/>
            </a:xfrm>
            <a:prstGeom prst="roundRect">
              <a:avLst>
                <a:gd fmla="val 50000" name="adj"/>
              </a:avLst>
            </a:prstGeom>
            <a:solidFill>
              <a:srgbClr val="1F4E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 txBox="1"/>
            <p:nvPr/>
          </p:nvSpPr>
          <p:spPr>
            <a:xfrm>
              <a:off x="238125" y="190500"/>
              <a:ext cx="50484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Model Evolution Narrative</a:t>
              </a:r>
              <a:endParaRPr b="1" sz="1600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b="1" lang="en-US" sz="13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Poisson baseline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1300">
                  <a:solidFill>
                    <a:srgbClr val="EA4335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badly overdispersed.</a:t>
              </a:r>
              <a:endParaRPr b="0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2.</a:t>
              </a:r>
              <a:r>
                <a:rPr b="1" lang="en-US" sz="13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Negative Binomial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13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substantially better fit.</a:t>
              </a:r>
              <a:endParaRPr b="0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3.</a:t>
              </a:r>
              <a:r>
                <a:rPr b="1" lang="en-US" sz="13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Multiple FWI features together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1300">
                  <a:solidFill>
                    <a:srgbClr val="EA4335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unacceptable multicollinearity.</a:t>
              </a:r>
              <a:endParaRPr b="0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4.</a:t>
              </a:r>
              <a:r>
                <a:rPr b="1" lang="en-US" sz="13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Final specification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13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2 climate predictors + 1 geospatial predictor, followed by validation, spatial-dependence testing, and future-scenario application.</a:t>
              </a:r>
              <a:endParaRPr b="0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8"/>
          <p:cNvGrpSpPr/>
          <p:nvPr/>
        </p:nvGrpSpPr>
        <p:grpSpPr>
          <a:xfrm>
            <a:off x="6286500" y="1285875"/>
            <a:ext cx="5400600" cy="4953000"/>
            <a:chOff x="0" y="0"/>
            <a:chExt cx="5400600" cy="4953000"/>
          </a:xfrm>
        </p:grpSpPr>
        <p:sp>
          <p:nvSpPr>
            <p:cNvPr id="229" name="Google Shape;229;p18"/>
            <p:cNvSpPr/>
            <p:nvPr/>
          </p:nvSpPr>
          <p:spPr>
            <a:xfrm>
              <a:off x="0" y="0"/>
              <a:ext cx="5400600" cy="4953000"/>
            </a:xfrm>
            <a:prstGeom prst="roundRect">
              <a:avLst>
                <a:gd fmla="val 1538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 txBox="1"/>
            <p:nvPr/>
          </p:nvSpPr>
          <p:spPr>
            <a:xfrm>
              <a:off x="190500" y="142875"/>
              <a:ext cx="501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Model Evolution Pipeline</a:t>
              </a:r>
              <a:endParaRPr b="1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1" name="Google Shape;231;p18"/>
            <p:cNvGrpSpPr/>
            <p:nvPr/>
          </p:nvGrpSpPr>
          <p:grpSpPr>
            <a:xfrm>
              <a:off x="1266825" y="523875"/>
              <a:ext cx="2857500" cy="381000"/>
              <a:chOff x="0" y="0"/>
              <a:chExt cx="2857500" cy="381000"/>
            </a:xfrm>
          </p:grpSpPr>
          <p:sp>
            <p:nvSpPr>
              <p:cNvPr id="232" name="Google Shape;232;p18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8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Poisson baseline GLM</a:t>
                </a:r>
                <a:endParaRPr b="1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18"/>
            <p:cNvGrpSpPr/>
            <p:nvPr/>
          </p:nvGrpSpPr>
          <p:grpSpPr>
            <a:xfrm>
              <a:off x="2657475" y="904875"/>
              <a:ext cx="76200" cy="190425"/>
              <a:chOff x="9525" y="0"/>
              <a:chExt cx="76200" cy="190425"/>
            </a:xfrm>
          </p:grpSpPr>
          <p:sp>
            <p:nvSpPr>
              <p:cNvPr id="235" name="Google Shape;235;p18"/>
              <p:cNvSpPr/>
              <p:nvPr/>
            </p:nvSpPr>
            <p:spPr>
              <a:xfrm>
                <a:off x="47625" y="0"/>
                <a:ext cx="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9525" y="123825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" name="Google Shape;237;p18"/>
            <p:cNvGrpSpPr/>
            <p:nvPr/>
          </p:nvGrpSpPr>
          <p:grpSpPr>
            <a:xfrm>
              <a:off x="1266825" y="1095375"/>
              <a:ext cx="2857500" cy="342900"/>
              <a:chOff x="0" y="0"/>
              <a:chExt cx="2857500" cy="342900"/>
            </a:xfrm>
          </p:grpSpPr>
          <p:sp>
            <p:nvSpPr>
              <p:cNvPr id="238" name="Google Shape;238;p18"/>
              <p:cNvSpPr/>
              <p:nvPr/>
            </p:nvSpPr>
            <p:spPr>
              <a:xfrm>
                <a:off x="0" y="0"/>
                <a:ext cx="2857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EE2E2"/>
              </a:solidFill>
              <a:ln cap="flat" cmpd="sng" w="952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8"/>
              <p:cNvSpPr txBox="1"/>
              <p:nvPr/>
            </p:nvSpPr>
            <p:spPr>
              <a:xfrm>
                <a:off x="0" y="0"/>
                <a:ext cx="2857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991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Overdispersion identified</a:t>
                </a:r>
                <a:endParaRPr b="1" sz="11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18"/>
            <p:cNvGrpSpPr/>
            <p:nvPr/>
          </p:nvGrpSpPr>
          <p:grpSpPr>
            <a:xfrm>
              <a:off x="2657475" y="1438275"/>
              <a:ext cx="76200" cy="190425"/>
              <a:chOff x="9525" y="0"/>
              <a:chExt cx="76200" cy="190425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47625" y="0"/>
                <a:ext cx="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9525" y="123825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8"/>
            <p:cNvGrpSpPr/>
            <p:nvPr/>
          </p:nvGrpSpPr>
          <p:grpSpPr>
            <a:xfrm>
              <a:off x="1266825" y="1628775"/>
              <a:ext cx="2857500" cy="381000"/>
              <a:chOff x="0" y="0"/>
              <a:chExt cx="2857500" cy="381000"/>
            </a:xfrm>
          </p:grpSpPr>
          <p:sp>
            <p:nvSpPr>
              <p:cNvPr id="244" name="Google Shape;244;p18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F4E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8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Negative Binomial GLM</a:t>
                </a:r>
                <a:endParaRPr b="1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18"/>
            <p:cNvGrpSpPr/>
            <p:nvPr/>
          </p:nvGrpSpPr>
          <p:grpSpPr>
            <a:xfrm>
              <a:off x="2657475" y="2009775"/>
              <a:ext cx="76200" cy="190425"/>
              <a:chOff x="9525" y="0"/>
              <a:chExt cx="76200" cy="190425"/>
            </a:xfrm>
          </p:grpSpPr>
          <p:sp>
            <p:nvSpPr>
              <p:cNvPr id="247" name="Google Shape;247;p18"/>
              <p:cNvSpPr/>
              <p:nvPr/>
            </p:nvSpPr>
            <p:spPr>
              <a:xfrm>
                <a:off x="47625" y="0"/>
                <a:ext cx="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9525" y="123825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8"/>
            <p:cNvGrpSpPr/>
            <p:nvPr/>
          </p:nvGrpSpPr>
          <p:grpSpPr>
            <a:xfrm>
              <a:off x="1266825" y="2200275"/>
              <a:ext cx="2857500" cy="342900"/>
              <a:chOff x="0" y="0"/>
              <a:chExt cx="2857500" cy="342900"/>
            </a:xfrm>
          </p:grpSpPr>
          <p:sp>
            <p:nvSpPr>
              <p:cNvPr id="250" name="Google Shape;250;p18"/>
              <p:cNvSpPr/>
              <p:nvPr/>
            </p:nvSpPr>
            <p:spPr>
              <a:xfrm>
                <a:off x="0" y="0"/>
                <a:ext cx="2857500" cy="342900"/>
              </a:xfrm>
              <a:prstGeom prst="roundRect">
                <a:avLst>
                  <a:gd fmla="val 16666" name="adj"/>
                </a:avLst>
              </a:prstGeom>
              <a:solidFill>
                <a:srgbClr val="FEE2E2"/>
              </a:solidFill>
              <a:ln cap="flat" cmpd="sng" w="952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8"/>
              <p:cNvSpPr txBox="1"/>
              <p:nvPr/>
            </p:nvSpPr>
            <p:spPr>
              <a:xfrm>
                <a:off x="0" y="0"/>
                <a:ext cx="2857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991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Multicollinearity identified</a:t>
                </a:r>
                <a:endParaRPr b="1" sz="11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p18"/>
            <p:cNvGrpSpPr/>
            <p:nvPr/>
          </p:nvGrpSpPr>
          <p:grpSpPr>
            <a:xfrm>
              <a:off x="2657475" y="2543175"/>
              <a:ext cx="76200" cy="190425"/>
              <a:chOff x="9525" y="0"/>
              <a:chExt cx="76200" cy="190425"/>
            </a:xfrm>
          </p:grpSpPr>
          <p:sp>
            <p:nvSpPr>
              <p:cNvPr id="253" name="Google Shape;253;p18"/>
              <p:cNvSpPr/>
              <p:nvPr/>
            </p:nvSpPr>
            <p:spPr>
              <a:xfrm>
                <a:off x="47625" y="0"/>
                <a:ext cx="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8"/>
              <p:cNvSpPr/>
              <p:nvPr/>
            </p:nvSpPr>
            <p:spPr>
              <a:xfrm>
                <a:off x="9525" y="123825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" name="Google Shape;255;p18"/>
            <p:cNvGrpSpPr/>
            <p:nvPr/>
          </p:nvGrpSpPr>
          <p:grpSpPr>
            <a:xfrm>
              <a:off x="1266825" y="2733675"/>
              <a:ext cx="2857500" cy="381000"/>
              <a:chOff x="0" y="0"/>
              <a:chExt cx="2857500" cy="381000"/>
            </a:xfrm>
          </p:grpSpPr>
          <p:sp>
            <p:nvSpPr>
              <p:cNvPr id="256" name="Google Shape;256;p18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E8F0FE"/>
              </a:solidFill>
              <a:ln cap="flat" cmpd="sng" w="9525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8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A73E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Feature Selection (2 Climate + 1 Fuel)</a:t>
                </a:r>
                <a:endParaRPr b="1" sz="115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" name="Google Shape;258;p18"/>
            <p:cNvGrpSpPr/>
            <p:nvPr/>
          </p:nvGrpSpPr>
          <p:grpSpPr>
            <a:xfrm>
              <a:off x="2657475" y="3114675"/>
              <a:ext cx="76200" cy="190425"/>
              <a:chOff x="9525" y="0"/>
              <a:chExt cx="76200" cy="190425"/>
            </a:xfrm>
          </p:grpSpPr>
          <p:sp>
            <p:nvSpPr>
              <p:cNvPr id="259" name="Google Shape;259;p18"/>
              <p:cNvSpPr/>
              <p:nvPr/>
            </p:nvSpPr>
            <p:spPr>
              <a:xfrm>
                <a:off x="47625" y="0"/>
                <a:ext cx="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9525" y="123825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1" name="Google Shape;261;p18"/>
            <p:cNvGrpSpPr/>
            <p:nvPr/>
          </p:nvGrpSpPr>
          <p:grpSpPr>
            <a:xfrm>
              <a:off x="1266825" y="3305175"/>
              <a:ext cx="2857500" cy="381000"/>
              <a:chOff x="0" y="0"/>
              <a:chExt cx="2857500" cy="381000"/>
            </a:xfrm>
          </p:grpSpPr>
          <p:sp>
            <p:nvSpPr>
              <p:cNvPr id="262" name="Google Shape;262;p18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E8F0FE"/>
              </a:solidFill>
              <a:ln cap="flat" cmpd="sng" w="9525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8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A73E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Model Validation (LOEO + Spatial)</a:t>
                </a:r>
                <a:endParaRPr b="1" sz="115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8"/>
            <p:cNvGrpSpPr/>
            <p:nvPr/>
          </p:nvGrpSpPr>
          <p:grpSpPr>
            <a:xfrm>
              <a:off x="2657475" y="3686175"/>
              <a:ext cx="76200" cy="190425"/>
              <a:chOff x="9525" y="0"/>
              <a:chExt cx="76200" cy="190425"/>
            </a:xfrm>
          </p:grpSpPr>
          <p:sp>
            <p:nvSpPr>
              <p:cNvPr id="265" name="Google Shape;265;p18"/>
              <p:cNvSpPr/>
              <p:nvPr/>
            </p:nvSpPr>
            <p:spPr>
              <a:xfrm>
                <a:off x="47625" y="0"/>
                <a:ext cx="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9525" y="123825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p18"/>
            <p:cNvGrpSpPr/>
            <p:nvPr/>
          </p:nvGrpSpPr>
          <p:grpSpPr>
            <a:xfrm>
              <a:off x="1266825" y="3876675"/>
              <a:ext cx="2857500" cy="381000"/>
              <a:chOff x="0" y="0"/>
              <a:chExt cx="2857500" cy="381000"/>
            </a:xfrm>
          </p:grpSpPr>
          <p:sp>
            <p:nvSpPr>
              <p:cNvPr id="268" name="Google Shape;268;p18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E8F0FE"/>
              </a:solidFill>
              <a:ln cap="flat" cmpd="sng" w="9525">
                <a:solidFill>
                  <a:srgbClr val="4285F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8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50">
                    <a:solidFill>
                      <a:srgbClr val="1A73E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Future Climate (SSP1-2.6 Illustrative)</a:t>
                </a:r>
                <a:endParaRPr b="1" sz="1150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18"/>
            <p:cNvGrpSpPr/>
            <p:nvPr/>
          </p:nvGrpSpPr>
          <p:grpSpPr>
            <a:xfrm>
              <a:off x="2657475" y="4257675"/>
              <a:ext cx="76200" cy="190425"/>
              <a:chOff x="9525" y="0"/>
              <a:chExt cx="76200" cy="190425"/>
            </a:xfrm>
          </p:grpSpPr>
          <p:sp>
            <p:nvSpPr>
              <p:cNvPr id="271" name="Google Shape;271;p18"/>
              <p:cNvSpPr/>
              <p:nvPr/>
            </p:nvSpPr>
            <p:spPr>
              <a:xfrm>
                <a:off x="47625" y="0"/>
                <a:ext cx="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9525" y="123825"/>
                <a:ext cx="76200" cy="666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" name="Google Shape;273;p18"/>
            <p:cNvGrpSpPr/>
            <p:nvPr/>
          </p:nvGrpSpPr>
          <p:grpSpPr>
            <a:xfrm>
              <a:off x="1266825" y="4448175"/>
              <a:ext cx="2857500" cy="381000"/>
              <a:chOff x="0" y="0"/>
              <a:chExt cx="2857500" cy="381000"/>
            </a:xfrm>
          </p:grpSpPr>
          <p:sp>
            <p:nvSpPr>
              <p:cNvPr id="274" name="Google Shape;274;p18"/>
              <p:cNvSpPr/>
              <p:nvPr/>
            </p:nvSpPr>
            <p:spPr>
              <a:xfrm>
                <a:off x="0" y="0"/>
                <a:ext cx="28575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22C5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8"/>
              <p:cNvSpPr txBox="1"/>
              <p:nvPr/>
            </p:nvSpPr>
            <p:spPr>
              <a:xfrm>
                <a:off x="0" y="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Final Model</a:t>
                </a:r>
                <a:endParaRPr b="1" sz="12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6" name="Google Shape;276;p18"/>
          <p:cNvSpPr txBox="1"/>
          <p:nvPr/>
        </p:nvSpPr>
        <p:spPr>
          <a:xfrm>
            <a:off x="502920" y="6528816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 — Alberta Portfolio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11338560" y="6528816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502920" y="10972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MODEL FITTING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502920" y="38404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Results — Frequency &amp; Severity</a:t>
            </a:r>
            <a:endParaRPr/>
          </a:p>
        </p:txBody>
      </p:sp>
      <p:grpSp>
        <p:nvGrpSpPr>
          <p:cNvPr id="285" name="Google Shape;285;p19"/>
          <p:cNvGrpSpPr/>
          <p:nvPr/>
        </p:nvGrpSpPr>
        <p:grpSpPr>
          <a:xfrm>
            <a:off x="502925" y="3866625"/>
            <a:ext cx="5224332" cy="1181991"/>
            <a:chOff x="0" y="0"/>
            <a:chExt cx="5633310" cy="2190900"/>
          </a:xfrm>
        </p:grpSpPr>
        <p:sp>
          <p:nvSpPr>
            <p:cNvPr id="286" name="Google Shape;286;p19"/>
            <p:cNvSpPr/>
            <p:nvPr/>
          </p:nvSpPr>
          <p:spPr>
            <a:xfrm>
              <a:off x="0" y="0"/>
              <a:ext cx="5334000" cy="21909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0" y="0"/>
              <a:ext cx="57300" cy="21909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 txBox="1"/>
            <p:nvPr/>
          </p:nvSpPr>
          <p:spPr>
            <a:xfrm>
              <a:off x="238110" y="190500"/>
              <a:ext cx="5395200" cy="18096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Frequency Model (Negative Binomial)</a:t>
              </a:r>
              <a:endParaRPr b="1" sz="16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Geospatial feature earns its place:</a:t>
              </a:r>
              <a:endParaRPr b="1" sz="13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Adding </a:t>
              </a:r>
              <a:r>
                <a:rPr b="1" lang="en-US" sz="1300">
                  <a:solidFill>
                    <a:srgbClr val="2A2A2A"/>
                  </a:solidFill>
                  <a:latin typeface="Consolas"/>
                  <a:ea typeface="Consolas"/>
                  <a:cs typeface="Consolas"/>
                  <a:sym typeface="Consolas"/>
                </a:rPr>
                <a:t>dominant_fuel_pct</a:t>
              </a:r>
              <a:r>
                <a:rPr b="0" lang="en-US" sz="13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 improves AIC by 21.0 and a likelihood-ratio test rejects the reduced (climate-only) model strongly (p=1.65×10⁻⁶).</a:t>
              </a:r>
              <a:endParaRPr b="0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19"/>
          <p:cNvGrpSpPr/>
          <p:nvPr/>
        </p:nvGrpSpPr>
        <p:grpSpPr>
          <a:xfrm>
            <a:off x="502925" y="5163600"/>
            <a:ext cx="5224359" cy="1240049"/>
            <a:chOff x="0" y="0"/>
            <a:chExt cx="5572055" cy="2190900"/>
          </a:xfrm>
        </p:grpSpPr>
        <p:sp>
          <p:nvSpPr>
            <p:cNvPr id="290" name="Google Shape;290;p19"/>
            <p:cNvSpPr/>
            <p:nvPr/>
          </p:nvSpPr>
          <p:spPr>
            <a:xfrm>
              <a:off x="0" y="0"/>
              <a:ext cx="5334000" cy="21909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0" y="0"/>
              <a:ext cx="57300" cy="2190900"/>
            </a:xfrm>
            <a:prstGeom prst="roundRect">
              <a:avLst>
                <a:gd fmla="val 50000" name="adj"/>
              </a:avLst>
            </a:prstGeom>
            <a:solidFill>
              <a:srgbClr val="1F4E5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 txBox="1"/>
            <p:nvPr/>
          </p:nvSpPr>
          <p:spPr>
            <a:xfrm>
              <a:off x="238055" y="265901"/>
              <a:ext cx="5334000" cy="1649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Severity Model (Gamma)</a:t>
              </a:r>
              <a:endParaRPr b="1" sz="1600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Limited statistical power:</a:t>
              </a:r>
              <a:endParaRPr b="1" sz="13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No predictor is significant on 76 usable rows — indicating limited power to detect relationships rather than confirming that none exist.</a:t>
              </a:r>
              <a:endParaRPr b="0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9"/>
          <p:cNvSpPr txBox="1"/>
          <p:nvPr/>
        </p:nvSpPr>
        <p:spPr>
          <a:xfrm>
            <a:off x="502920" y="6528816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 — Alberta Portfolio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11338560" y="6528816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295" name="Google Shape;295;p19"/>
          <p:cNvGraphicFramePr/>
          <p:nvPr/>
        </p:nvGraphicFramePr>
        <p:xfrm>
          <a:off x="502920" y="12676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{D1B3655D-5CA0-49C8-9ED6-CE8EEB3D1A36}</a:tableStyleId>
              </a:tblPr>
              <a:tblGrid>
                <a:gridCol w="2377450"/>
                <a:gridCol w="1554475"/>
              </a:tblGrid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 model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AIC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Poisson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135,998.1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B32B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Negative Binomial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B32B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1,196.8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6" name="Google Shape;296;p19"/>
          <p:cNvGraphicFramePr/>
          <p:nvPr/>
        </p:nvGraphicFramePr>
        <p:xfrm>
          <a:off x="6369773" y="45915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{D1B3655D-5CA0-49C8-9ED6-CE8EEB3D1A36}</a:tableStyleId>
              </a:tblPr>
              <a:tblGrid>
                <a:gridCol w="2704800"/>
                <a:gridCol w="2401150"/>
              </a:tblGrid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 / actual total loss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$41.4M / $106.9M (39%)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$572,725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$3,336,833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97" name="Google Shape;297;p19"/>
          <p:cNvGrpSpPr/>
          <p:nvPr/>
        </p:nvGrpSpPr>
        <p:grpSpPr>
          <a:xfrm>
            <a:off x="4993000" y="1134075"/>
            <a:ext cx="7140976" cy="2780233"/>
            <a:chOff x="0" y="0"/>
            <a:chExt cx="5638800" cy="4572000"/>
          </a:xfrm>
        </p:grpSpPr>
        <p:sp>
          <p:nvSpPr>
            <p:cNvPr id="298" name="Google Shape;298;p19"/>
            <p:cNvSpPr/>
            <p:nvPr/>
          </p:nvSpPr>
          <p:spPr>
            <a:xfrm>
              <a:off x="0" y="0"/>
              <a:ext cx="5638800" cy="4572000"/>
            </a:xfrm>
            <a:prstGeom prst="roundRect">
              <a:avLst>
                <a:gd fmla="val 1666" name="adj"/>
              </a:avLst>
            </a:prstGeom>
            <a:solidFill>
              <a:schemeClr val="lt1"/>
            </a:solidFill>
            <a:ln cap="flat" cmpd="sng" w="10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 txBox="1"/>
            <p:nvPr/>
          </p:nvSpPr>
          <p:spPr>
            <a:xfrm>
              <a:off x="190500" y="142875"/>
              <a:ext cx="5257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36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Model Coefficients &amp; Prediction Alignment</a:t>
              </a:r>
              <a:endParaRPr b="1" sz="1436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lberta_coefficient_plot.png" id="300" name="Google Shape;3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3910" y="1827763"/>
            <a:ext cx="3383280" cy="2384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berta_actual_vs_predicted_loss.png" id="301" name="Google Shape;3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1436" y="1648535"/>
            <a:ext cx="2746334" cy="2743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19"/>
          <p:cNvGrpSpPr/>
          <p:nvPr/>
        </p:nvGrpSpPr>
        <p:grpSpPr>
          <a:xfrm>
            <a:off x="502925" y="2569638"/>
            <a:ext cx="4812868" cy="1181991"/>
            <a:chOff x="0" y="0"/>
            <a:chExt cx="5334000" cy="2190900"/>
          </a:xfrm>
        </p:grpSpPr>
        <p:sp>
          <p:nvSpPr>
            <p:cNvPr id="303" name="Google Shape;303;p19"/>
            <p:cNvSpPr/>
            <p:nvPr/>
          </p:nvSpPr>
          <p:spPr>
            <a:xfrm>
              <a:off x="0" y="0"/>
              <a:ext cx="5334000" cy="21909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0" y="0"/>
              <a:ext cx="57300" cy="21909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 txBox="1"/>
            <p:nvPr/>
          </p:nvSpPr>
          <p:spPr>
            <a:xfrm>
              <a:off x="238125" y="190500"/>
              <a:ext cx="4857900" cy="18096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Performance</a:t>
              </a:r>
              <a:endParaRPr b="1" sz="16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Predicted loss: 39% of actual</a:t>
              </a:r>
              <a:endParaRPr b="1" sz="13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MAE: $573K</a:t>
              </a:r>
              <a:endParaRPr b="1" sz="13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en-US" sz="13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RMSE: $3.34M</a:t>
              </a:r>
              <a:endParaRPr b="1" sz="13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502920" y="10972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502920" y="38404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— Out-of-Sample &amp; Spatial Dependence</a:t>
            </a:r>
            <a:endParaRPr/>
          </a:p>
        </p:txBody>
      </p:sp>
      <p:grpSp>
        <p:nvGrpSpPr>
          <p:cNvPr id="313" name="Google Shape;313;p20"/>
          <p:cNvGrpSpPr/>
          <p:nvPr/>
        </p:nvGrpSpPr>
        <p:grpSpPr>
          <a:xfrm>
            <a:off x="502925" y="1333500"/>
            <a:ext cx="5697779" cy="3553301"/>
            <a:chOff x="0" y="0"/>
            <a:chExt cx="5334000" cy="2857500"/>
          </a:xfrm>
        </p:grpSpPr>
        <p:sp>
          <p:nvSpPr>
            <p:cNvPr id="314" name="Google Shape;314;p20"/>
            <p:cNvSpPr/>
            <p:nvPr/>
          </p:nvSpPr>
          <p:spPr>
            <a:xfrm>
              <a:off x="0" y="0"/>
              <a:ext cx="5334000" cy="28575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1017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0" y="0"/>
              <a:ext cx="57300" cy="28575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238125" y="190500"/>
              <a:ext cx="4857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23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Leave-One-Event-Out (LOEO)</a:t>
              </a:r>
              <a:endParaRPr b="1" sz="1923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2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23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2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23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2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23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2"/>
                </a:spcBef>
                <a:spcAft>
                  <a:spcPts val="0"/>
                </a:spcAft>
                <a:buNone/>
              </a:pPr>
              <a:r>
                <a:rPr b="1" lang="en-US" sz="3418">
                  <a:solidFill>
                    <a:srgbClr val="EA4335"/>
                  </a:solidFill>
                  <a:latin typeface="Calibri"/>
                  <a:ea typeface="Calibri"/>
                  <a:cs typeface="Calibri"/>
                  <a:sym typeface="Calibri"/>
                </a:rPr>
                <a:t>Unreliable</a:t>
              </a:r>
              <a:endParaRPr b="1" sz="3418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82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Insufficient sample size</a:t>
              </a:r>
              <a:endParaRPr i="1" sz="1282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2"/>
                </a:spcBef>
                <a:spcAft>
                  <a:spcPts val="0"/>
                </a:spcAft>
                <a:buNone/>
              </a:pPr>
              <a:r>
                <a:rPr b="1" lang="en-US" sz="1495">
                  <a:solidFill>
                    <a:srgbClr val="1A73E8"/>
                  </a:solidFill>
                  <a:latin typeface="Calibri"/>
                  <a:ea typeface="Calibri"/>
                  <a:cs typeface="Calibri"/>
                  <a:sym typeface="Calibri"/>
                </a:rPr>
                <a:t>▪</a:t>
              </a:r>
              <a:r>
                <a:rPr b="0" lang="en-US" sz="1495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Two wildfire events are entirely insufficient for a trustworthy, robust out-of-sample validation of the model.</a:t>
              </a:r>
              <a:endParaRPr b="0" sz="1495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20"/>
          <p:cNvGrpSpPr/>
          <p:nvPr/>
        </p:nvGrpSpPr>
        <p:grpSpPr>
          <a:xfrm>
            <a:off x="6355075" y="1333500"/>
            <a:ext cx="5334000" cy="3553301"/>
            <a:chOff x="0" y="0"/>
            <a:chExt cx="5334000" cy="2857500"/>
          </a:xfrm>
        </p:grpSpPr>
        <p:sp>
          <p:nvSpPr>
            <p:cNvPr id="318" name="Google Shape;318;p20"/>
            <p:cNvSpPr/>
            <p:nvPr/>
          </p:nvSpPr>
          <p:spPr>
            <a:xfrm>
              <a:off x="0" y="0"/>
              <a:ext cx="5334000" cy="28575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0" y="0"/>
              <a:ext cx="57300" cy="2857500"/>
            </a:xfrm>
            <a:prstGeom prst="roundRect">
              <a:avLst>
                <a:gd fmla="val 50000" name="adj"/>
              </a:avLst>
            </a:prstGeom>
            <a:solidFill>
              <a:srgbClr val="1F4E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238125" y="190500"/>
              <a:ext cx="4857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Spatial Dependence (GEE)</a:t>
              </a:r>
              <a:endParaRPr b="1" sz="1800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≈ 0</a:t>
              </a:r>
              <a:endParaRPr b="1" sz="4000">
                <a:solidFill>
                  <a:srgbClr val="B32B1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(-0.008) estimated within-event correlation</a:t>
              </a:r>
              <a:endParaRPr i="1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▪</a:t>
              </a:r>
              <a:r>
                <a:rPr b="0" lang="en-US" sz="14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Not a precise estimate. With only 2 clusters, this metric cannot reliably demonstrate whether spatial dependence exists.</a:t>
              </a:r>
              <a:endParaRPr b="0" sz="14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20"/>
          <p:cNvGrpSpPr/>
          <p:nvPr/>
        </p:nvGrpSpPr>
        <p:grpSpPr>
          <a:xfrm>
            <a:off x="502795" y="5022300"/>
            <a:ext cx="11186100" cy="1428900"/>
            <a:chOff x="0" y="0"/>
            <a:chExt cx="11186100" cy="1428900"/>
          </a:xfrm>
        </p:grpSpPr>
        <p:sp>
          <p:nvSpPr>
            <p:cNvPr id="322" name="Google Shape;322;p20"/>
            <p:cNvSpPr/>
            <p:nvPr/>
          </p:nvSpPr>
          <p:spPr>
            <a:xfrm>
              <a:off x="0" y="0"/>
              <a:ext cx="11186100" cy="1428900"/>
            </a:xfrm>
            <a:prstGeom prst="roundRect">
              <a:avLst>
                <a:gd fmla="val 5333" name="adj"/>
              </a:avLst>
            </a:prstGeom>
            <a:solidFill>
              <a:srgbClr val="F2EFE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0" y="0"/>
              <a:ext cx="76200" cy="1428900"/>
            </a:xfrm>
            <a:prstGeom prst="roundRect">
              <a:avLst>
                <a:gd fmla="val 50000" name="adj"/>
              </a:avLst>
            </a:prstGeom>
            <a:solidFill>
              <a:srgbClr val="B32B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0"/>
            <p:cNvSpPr txBox="1"/>
            <p:nvPr/>
          </p:nvSpPr>
          <p:spPr>
            <a:xfrm>
              <a:off x="285750" y="190500"/>
              <a:ext cx="10614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Bottom Line:</a:t>
              </a:r>
              <a:endParaRPr b="1" sz="1500">
                <a:solidFill>
                  <a:srgbClr val="B32B1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With only two wildfire events, neither out-of-sample performance nor spatial dependence can be estimated reliably. This is not evidence that either is absent, but rather that the currently available data cannot yet answer the question.</a:t>
              </a:r>
              <a:endParaRPr b="0" sz="140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20"/>
          <p:cNvSpPr txBox="1"/>
          <p:nvPr/>
        </p:nvSpPr>
        <p:spPr>
          <a:xfrm>
            <a:off x="502920" y="6528816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 — Alberta Portfolio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11338560" y="6528816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327" name="Google Shape;327;p20"/>
          <p:cNvGraphicFramePr/>
          <p:nvPr/>
        </p:nvGraphicFramePr>
        <p:xfrm>
          <a:off x="714295" y="20322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{6FC082E3-F23E-4240-AA9F-035BC632A3E7}</a:tableStyleId>
              </a:tblPr>
              <a:tblGrid>
                <a:gridCol w="2041050"/>
                <a:gridCol w="930275"/>
                <a:gridCol w="941400"/>
                <a:gridCol w="1139450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→ Test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Predicted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 corr.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 2016 → Jul/Aug 2024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$186K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$23.7M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≈0 (0.068)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Jul/Aug 2024 → May 2016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$189.9M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$83.2M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0.297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502920" y="10972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SSP1-2.6, 2045–2050 VS. 2015–2025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502920" y="38404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Climate Projection (Illustrative)</a:t>
            </a:r>
            <a:endParaRPr/>
          </a:p>
        </p:txBody>
      </p:sp>
      <p:grpSp>
        <p:nvGrpSpPr>
          <p:cNvPr id="335" name="Google Shape;335;p21"/>
          <p:cNvGrpSpPr/>
          <p:nvPr/>
        </p:nvGrpSpPr>
        <p:grpSpPr>
          <a:xfrm>
            <a:off x="6425075" y="1334100"/>
            <a:ext cx="5496000" cy="4543500"/>
            <a:chOff x="6191250" y="1333500"/>
            <a:chExt cx="5496000" cy="4543500"/>
          </a:xfrm>
        </p:grpSpPr>
        <p:sp>
          <p:nvSpPr>
            <p:cNvPr id="336" name="Google Shape;336;p21"/>
            <p:cNvSpPr/>
            <p:nvPr/>
          </p:nvSpPr>
          <p:spPr>
            <a:xfrm>
              <a:off x="6191250" y="1333500"/>
              <a:ext cx="5496000" cy="4543500"/>
            </a:xfrm>
            <a:prstGeom prst="roundRect">
              <a:avLst>
                <a:gd fmla="val 1677" name="adj"/>
              </a:avLst>
            </a:pr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1"/>
            <p:cNvSpPr txBox="1"/>
            <p:nvPr/>
          </p:nvSpPr>
          <p:spPr>
            <a:xfrm>
              <a:off x="6381750" y="1524000"/>
              <a:ext cx="5115000" cy="476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Illustrative Projected Portfolio Loss by FSA</a:t>
              </a:r>
              <a:endParaRPr b="1" sz="1500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Historical, future, and % change (SSP1-2.6)</a:t>
              </a:r>
              <a:endParaRPr b="0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1"/>
            <p:cNvSpPr txBox="1"/>
            <p:nvPr/>
          </p:nvSpPr>
          <p:spPr>
            <a:xfrm>
              <a:off x="6381750" y="4714875"/>
              <a:ext cx="5115000" cy="10479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Percentile ranks are shown rather than dollar values to facilitate visual comparison across periods despite the highly skewed distribution of projected losses.</a:t>
              </a:r>
              <a:endParaRPr b="0" i="1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21"/>
          <p:cNvGrpSpPr/>
          <p:nvPr/>
        </p:nvGrpSpPr>
        <p:grpSpPr>
          <a:xfrm>
            <a:off x="294496" y="1394829"/>
            <a:ext cx="5878954" cy="3477537"/>
            <a:chOff x="502920" y="1333500"/>
            <a:chExt cx="5429400" cy="4543425"/>
          </a:xfrm>
        </p:grpSpPr>
        <p:grpSp>
          <p:nvGrpSpPr>
            <p:cNvPr id="340" name="Google Shape;340;p21"/>
            <p:cNvGrpSpPr/>
            <p:nvPr/>
          </p:nvGrpSpPr>
          <p:grpSpPr>
            <a:xfrm>
              <a:off x="502920" y="1333500"/>
              <a:ext cx="5429400" cy="1028700"/>
              <a:chOff x="0" y="0"/>
              <a:chExt cx="5429400" cy="1028700"/>
            </a:xfrm>
          </p:grpSpPr>
          <p:sp>
            <p:nvSpPr>
              <p:cNvPr id="341" name="Google Shape;341;p21"/>
              <p:cNvSpPr/>
              <p:nvPr/>
            </p:nvSpPr>
            <p:spPr>
              <a:xfrm>
                <a:off x="0" y="0"/>
                <a:ext cx="5429400" cy="1028700"/>
              </a:xfrm>
              <a:prstGeom prst="roundRect">
                <a:avLst>
                  <a:gd fmla="val 5555" name="adj"/>
                </a:avLst>
              </a:prstGeom>
              <a:solidFill>
                <a:srgbClr val="FFFFFF"/>
              </a:solidFill>
              <a:ln cap="flat" cmpd="sng" w="76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>
                <a:off x="0" y="0"/>
                <a:ext cx="57300" cy="1028700"/>
              </a:xfrm>
              <a:prstGeom prst="roundRect">
                <a:avLst>
                  <a:gd fmla="val 50000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1"/>
              <p:cNvSpPr txBox="1"/>
              <p:nvPr/>
            </p:nvSpPr>
            <p:spPr>
              <a:xfrm>
                <a:off x="190500" y="114300"/>
                <a:ext cx="50484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81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Labelled “illustrative,” not “predicted”</a:t>
                </a:r>
                <a:endParaRPr b="1" sz="1081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24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Model trained on event-window extremes; future comparison uses period-average inputs — a feature-scale mismatch that pushes it outside training distribution.</a:t>
                </a:r>
                <a:endParaRPr b="0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21"/>
            <p:cNvGrpSpPr/>
            <p:nvPr/>
          </p:nvGrpSpPr>
          <p:grpSpPr>
            <a:xfrm>
              <a:off x="502920" y="2505075"/>
              <a:ext cx="5429400" cy="1028700"/>
              <a:chOff x="0" y="0"/>
              <a:chExt cx="5429400" cy="1028700"/>
            </a:xfrm>
          </p:grpSpPr>
          <p:sp>
            <p:nvSpPr>
              <p:cNvPr id="345" name="Google Shape;345;p21"/>
              <p:cNvSpPr/>
              <p:nvPr/>
            </p:nvSpPr>
            <p:spPr>
              <a:xfrm>
                <a:off x="0" y="0"/>
                <a:ext cx="5429400" cy="1028700"/>
              </a:xfrm>
              <a:prstGeom prst="roundRect">
                <a:avLst>
                  <a:gd fmla="val 5555" name="adj"/>
                </a:avLst>
              </a:prstGeom>
              <a:solidFill>
                <a:srgbClr val="FFFFFF"/>
              </a:solidFill>
              <a:ln cap="flat" cmpd="sng" w="76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>
                <a:off x="0" y="0"/>
                <a:ext cx="57300" cy="1028700"/>
              </a:xfrm>
              <a:prstGeom prst="roundRect">
                <a:avLst>
                  <a:gd fmla="val 50000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1"/>
              <p:cNvSpPr txBox="1"/>
              <p:nvPr/>
            </p:nvSpPr>
            <p:spPr>
              <a:xfrm>
                <a:off x="190500" y="114300"/>
                <a:ext cx="50484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81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 prediction interval reported</a:t>
                </a:r>
                <a:endParaRPr b="1" sz="1081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24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Parameter uncertainty from only 2 historical wildfire events would make any prediction interval itself highly unstable and unreliable.</a:t>
                </a:r>
                <a:endParaRPr b="0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21"/>
            <p:cNvGrpSpPr/>
            <p:nvPr/>
          </p:nvGrpSpPr>
          <p:grpSpPr>
            <a:xfrm>
              <a:off x="502920" y="3676650"/>
              <a:ext cx="5429400" cy="1028700"/>
              <a:chOff x="0" y="0"/>
              <a:chExt cx="5429400" cy="1028700"/>
            </a:xfrm>
          </p:grpSpPr>
          <p:sp>
            <p:nvSpPr>
              <p:cNvPr id="349" name="Google Shape;349;p21"/>
              <p:cNvSpPr/>
              <p:nvPr/>
            </p:nvSpPr>
            <p:spPr>
              <a:xfrm>
                <a:off x="0" y="0"/>
                <a:ext cx="5429400" cy="1028700"/>
              </a:xfrm>
              <a:prstGeom prst="roundRect">
                <a:avLst>
                  <a:gd fmla="val 5555" name="adj"/>
                </a:avLst>
              </a:prstGeom>
              <a:solidFill>
                <a:srgbClr val="FFFFFF"/>
              </a:solidFill>
              <a:ln cap="flat" cmpd="sng" w="76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>
                <a:off x="0" y="0"/>
                <a:ext cx="57300" cy="1028700"/>
              </a:xfrm>
              <a:prstGeom prst="roundRect">
                <a:avLst>
                  <a:gd fmla="val 50000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1"/>
              <p:cNvSpPr txBox="1"/>
              <p:nvPr/>
            </p:nvSpPr>
            <p:spPr>
              <a:xfrm>
                <a:off x="190500" y="114300"/>
                <a:ext cx="50484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81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Single model, scenario, &amp; ensemble member</a:t>
                </a:r>
                <a:endParaRPr b="1" sz="1081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24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 narrow projection pathway, whereas other CMIP6 climate models often project overall increasing fire-weather risk for similar geographic regions.</a:t>
                </a:r>
                <a:endParaRPr b="0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2" name="Google Shape;352;p21"/>
            <p:cNvGrpSpPr/>
            <p:nvPr/>
          </p:nvGrpSpPr>
          <p:grpSpPr>
            <a:xfrm>
              <a:off x="502920" y="4848225"/>
              <a:ext cx="5429400" cy="1028700"/>
              <a:chOff x="0" y="0"/>
              <a:chExt cx="5429400" cy="1028700"/>
            </a:xfrm>
          </p:grpSpPr>
          <p:sp>
            <p:nvSpPr>
              <p:cNvPr id="353" name="Google Shape;353;p21"/>
              <p:cNvSpPr/>
              <p:nvPr/>
            </p:nvSpPr>
            <p:spPr>
              <a:xfrm>
                <a:off x="0" y="0"/>
                <a:ext cx="5429400" cy="1028700"/>
              </a:xfrm>
              <a:prstGeom prst="roundRect">
                <a:avLst>
                  <a:gd fmla="val 5555" name="adj"/>
                </a:avLst>
              </a:prstGeom>
              <a:solidFill>
                <a:srgbClr val="FFFFFF"/>
              </a:solidFill>
              <a:ln cap="flat" cmpd="sng" w="76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>
                <a:off x="0" y="0"/>
                <a:ext cx="57300" cy="1028700"/>
              </a:xfrm>
              <a:prstGeom prst="roundRect">
                <a:avLst>
                  <a:gd fmla="val 50000" name="adj"/>
                </a:avLst>
              </a:prstGeom>
              <a:solidFill>
                <a:srgbClr val="4285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1"/>
              <p:cNvSpPr txBox="1"/>
              <p:nvPr/>
            </p:nvSpPr>
            <p:spPr>
              <a:xfrm>
                <a:off x="190500" y="114300"/>
                <a:ext cx="50484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81">
                    <a:solidFill>
                      <a:srgbClr val="2A2A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Frequency/loss rise despite FWI falling</a:t>
                </a:r>
                <a:endParaRPr b="1" sz="1081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24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Driven by a negative dc_max coefficient learned from only 2 events — which is plausibly a statistical artifact rather than a stable physical relationship.</a:t>
                </a:r>
                <a:endParaRPr b="0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alberta_expected_loss_by_fsa_choropleth.png" id="356" name="Google Shape;3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4163" y="2227250"/>
            <a:ext cx="5257800" cy="22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1"/>
          <p:cNvSpPr txBox="1"/>
          <p:nvPr/>
        </p:nvSpPr>
        <p:spPr>
          <a:xfrm>
            <a:off x="502920" y="6528816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 — Alberta Portfolio</a:t>
            </a:r>
            <a:endParaRPr/>
          </a:p>
        </p:txBody>
      </p:sp>
      <p:sp>
        <p:nvSpPr>
          <p:cNvPr id="358" name="Google Shape;358;p21"/>
          <p:cNvSpPr txBox="1"/>
          <p:nvPr/>
        </p:nvSpPr>
        <p:spPr>
          <a:xfrm>
            <a:off x="11338560" y="6528816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graphicFrame>
        <p:nvGraphicFramePr>
          <p:cNvPr id="359" name="Google Shape;359;p21"/>
          <p:cNvGraphicFramePr/>
          <p:nvPr/>
        </p:nvGraphicFramePr>
        <p:xfrm>
          <a:off x="294470" y="49843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{D1B3655D-5CA0-49C8-9ED6-CE8EEB3D1A36}</a:tableStyleId>
              </a:tblPr>
              <a:tblGrid>
                <a:gridCol w="1959675"/>
                <a:gridCol w="1493025"/>
                <a:gridCol w="1679725"/>
                <a:gridCol w="746525"/>
              </a:tblGrid>
              <a:tr h="418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Historical (2015–2025)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Future SSP1-2.6 (2045–2050)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Rel. diff.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chemeClr val="accent1"/>
                    </a:solidFill>
                  </a:tcPr>
                </a:tc>
              </a:tr>
              <a:tr h="23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FWI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3.47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−61%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3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DC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203.6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148.7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−27%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</a:tr>
              <a:tr h="30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Illustrative claim frequency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1,870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3,862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+107%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FFFFFF"/>
                    </a:solidFill>
                  </a:tcPr>
                </a:tc>
              </a:tr>
              <a:tr h="23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Illustrative projected loss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$4.5M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$7.65M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2A2A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+70%</a:t>
                      </a:r>
                      <a:endParaRPr/>
                    </a:p>
                  </a:txBody>
                  <a:tcPr marT="27425" marB="27425" marR="73150" marL="73150" anchor="ctr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502920" y="109728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D9C9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502920" y="384048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Limitations, Next Steps</a:t>
            </a:r>
            <a:endParaRPr/>
          </a:p>
        </p:txBody>
      </p:sp>
      <p:grpSp>
        <p:nvGrpSpPr>
          <p:cNvPr id="367" name="Google Shape;367;p22"/>
          <p:cNvGrpSpPr/>
          <p:nvPr/>
        </p:nvGrpSpPr>
        <p:grpSpPr>
          <a:xfrm>
            <a:off x="502920" y="1285875"/>
            <a:ext cx="5334000" cy="3714900"/>
            <a:chOff x="0" y="0"/>
            <a:chExt cx="5334000" cy="3714900"/>
          </a:xfrm>
        </p:grpSpPr>
        <p:sp>
          <p:nvSpPr>
            <p:cNvPr id="368" name="Google Shape;368;p22"/>
            <p:cNvSpPr/>
            <p:nvPr/>
          </p:nvSpPr>
          <p:spPr>
            <a:xfrm>
              <a:off x="0" y="0"/>
              <a:ext cx="5334000" cy="37149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0" y="0"/>
              <a:ext cx="57300" cy="3714900"/>
            </a:xfrm>
            <a:prstGeom prst="roundRect">
              <a:avLst>
                <a:gd fmla="val 50000" name="adj"/>
              </a:avLst>
            </a:prstGeom>
            <a:solidFill>
              <a:srgbClr val="B32B1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2"/>
            <p:cNvSpPr txBox="1"/>
            <p:nvPr/>
          </p:nvSpPr>
          <p:spPr>
            <a:xfrm>
              <a:off x="238125" y="190500"/>
              <a:ext cx="48579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Key limitations:</a:t>
              </a:r>
              <a:endParaRPr b="1" sz="1600">
                <a:solidFill>
                  <a:srgbClr val="B32B1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▪ Only 2 historical events.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Thin basis for frequency/severity or tail-risk estimation.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▪ Poor out-of-sample generalization.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LOEO failed to converge in both directions.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▪ Spatial dependence imprecisely estimated.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Only 2 clusters.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▪ Open data gaps.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24% of claims lack FWI signal; T3T/T4K boundary gap; fuel codes unlabelled.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▪ Single climate pathway.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One model, one scenario, one ensemble member.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22"/>
          <p:cNvGrpSpPr/>
          <p:nvPr/>
        </p:nvGrpSpPr>
        <p:grpSpPr>
          <a:xfrm>
            <a:off x="6355080" y="1285875"/>
            <a:ext cx="5334000" cy="3714900"/>
            <a:chOff x="0" y="0"/>
            <a:chExt cx="5334000" cy="3714900"/>
          </a:xfrm>
        </p:grpSpPr>
        <p:sp>
          <p:nvSpPr>
            <p:cNvPr id="372" name="Google Shape;372;p22"/>
            <p:cNvSpPr/>
            <p:nvPr/>
          </p:nvSpPr>
          <p:spPr>
            <a:xfrm>
              <a:off x="0" y="0"/>
              <a:ext cx="5334000" cy="3714900"/>
            </a:xfrm>
            <a:prstGeom prst="roundRect">
              <a:avLst>
                <a:gd fmla="val 153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0" y="0"/>
              <a:ext cx="57300" cy="37149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238125" y="190500"/>
              <a:ext cx="48579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F4E5F"/>
                  </a:solidFill>
                  <a:latin typeface="Calibri"/>
                  <a:ea typeface="Calibri"/>
                  <a:cs typeface="Calibri"/>
                  <a:sym typeface="Calibri"/>
                </a:rPr>
                <a:t>Next steps (by business value):</a:t>
              </a:r>
              <a:endParaRPr b="1" sz="1600">
                <a:solidFill>
                  <a:srgbClr val="1F4E5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1. More historical events.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The single highest-value addition.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2. Monte Carlo simulation.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Real prediction intervals once enough events exist.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3. Multi-model climate ensemble.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Beyond one model/scenario/member.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4. Resolve remaining data gaps.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FWI coverage, boundary gap, fuel legend.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285F4"/>
                  </a:solidFill>
                  <a:latin typeface="Calibri"/>
                  <a:ea typeface="Calibri"/>
                  <a:cs typeface="Calibri"/>
                  <a:sym typeface="Calibri"/>
                </a:rPr>
                <a:t>5. Alternative severity predictors.</a:t>
              </a:r>
              <a:r>
                <a:rPr lang="en-US" sz="12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An exposure-oriented set, not climate-only.</a:t>
              </a:r>
              <a:endParaRPr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22"/>
          <p:cNvGrpSpPr/>
          <p:nvPr/>
        </p:nvGrpSpPr>
        <p:grpSpPr>
          <a:xfrm>
            <a:off x="502920" y="5191125"/>
            <a:ext cx="11186100" cy="1095300"/>
            <a:chOff x="0" y="0"/>
            <a:chExt cx="11186100" cy="1095300"/>
          </a:xfrm>
        </p:grpSpPr>
        <p:sp>
          <p:nvSpPr>
            <p:cNvPr id="376" name="Google Shape;376;p22"/>
            <p:cNvSpPr/>
            <p:nvPr/>
          </p:nvSpPr>
          <p:spPr>
            <a:xfrm>
              <a:off x="0" y="0"/>
              <a:ext cx="11186100" cy="1095300"/>
            </a:xfrm>
            <a:prstGeom prst="roundRect">
              <a:avLst>
                <a:gd fmla="val 6956" name="adj"/>
              </a:avLst>
            </a:prstGeom>
            <a:solidFill>
              <a:srgbClr val="F2EFE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0" y="0"/>
              <a:ext cx="76200" cy="1095300"/>
            </a:xfrm>
            <a:prstGeom prst="roundRect">
              <a:avLst>
                <a:gd fmla="val 50000" name="adj"/>
              </a:avLst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2"/>
            <p:cNvSpPr txBox="1"/>
            <p:nvPr/>
          </p:nvSpPr>
          <p:spPr>
            <a:xfrm>
              <a:off x="285750" y="142875"/>
              <a:ext cx="106146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5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Conclusion</a:t>
              </a:r>
              <a:r>
                <a:rPr b="1" lang="en-US" sz="1450">
                  <a:solidFill>
                    <a:srgbClr val="B32B1E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lang="en-US" sz="1450">
                  <a:solidFill>
                    <a:srgbClr val="2A2A2A"/>
                  </a:solidFill>
                  <a:latin typeface="Calibri"/>
                  <a:ea typeface="Calibri"/>
                  <a:cs typeface="Calibri"/>
                  <a:sym typeface="Calibri"/>
                </a:rPr>
                <a:t> the modelling framework is technically sound and reproducible, but additional historical wildfire events are the critical requirement before operational deployment.</a:t>
              </a:r>
              <a:endParaRPr sz="14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2"/>
          <p:cNvSpPr txBox="1"/>
          <p:nvPr/>
        </p:nvSpPr>
        <p:spPr>
          <a:xfrm>
            <a:off x="502920" y="6528816"/>
            <a:ext cx="731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Wildfire Insured-Loss Modelling — Alberta Portfolio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11338560" y="6528816"/>
            <a:ext cx="457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